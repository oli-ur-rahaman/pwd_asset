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12801600" cy="2743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748" userDrawn="1">
          <p15:clr>
            <a:srgbClr val="A4A3A4"/>
          </p15:clr>
        </p15:guide>
        <p15:guide id="2" pos="42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609" autoAdjust="0"/>
    <p:restoredTop sz="94660"/>
  </p:normalViewPr>
  <p:slideViewPr>
    <p:cSldViewPr snapToGrid="0" showGuides="1">
      <p:cViewPr>
        <p:scale>
          <a:sx n="25" d="100"/>
          <a:sy n="25" d="100"/>
        </p:scale>
        <p:origin x="1602" y="234"/>
      </p:cViewPr>
      <p:guideLst>
        <p:guide orient="horz" pos="8748"/>
        <p:guide pos="42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4489452"/>
            <a:ext cx="10881360" cy="9550400"/>
          </a:xfrm>
        </p:spPr>
        <p:txBody>
          <a:bodyPr anchor="b"/>
          <a:lstStyle>
            <a:lvl1pPr algn="ctr">
              <a:defRPr sz="8400"/>
            </a:lvl1pPr>
          </a:lstStyle>
          <a:p>
            <a:r>
              <a:rPr lang="en-US"/>
              <a:t>Click to edit Master title style</a:t>
            </a:r>
            <a:endParaRPr lang="en-US" dirty="0"/>
          </a:p>
        </p:txBody>
      </p:sp>
      <p:sp>
        <p:nvSpPr>
          <p:cNvPr id="3" name="Subtitle 2"/>
          <p:cNvSpPr>
            <a:spLocks noGrp="1"/>
          </p:cNvSpPr>
          <p:nvPr>
            <p:ph type="subTitle" idx="1"/>
          </p:nvPr>
        </p:nvSpPr>
        <p:spPr>
          <a:xfrm>
            <a:off x="1600200" y="14408152"/>
            <a:ext cx="9601200" cy="6623048"/>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326A4F-1D1A-4CA7-9D8A-2FD8AD312A1D}"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3279825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26A4F-1D1A-4CA7-9D8A-2FD8AD312A1D}"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580208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6838958"/>
            <a:ext cx="11041380" cy="11410948"/>
          </a:xfrm>
        </p:spPr>
        <p:txBody>
          <a:bodyPr anchor="b"/>
          <a:lstStyle>
            <a:lvl1pPr>
              <a:defRPr sz="8400"/>
            </a:lvl1pPr>
          </a:lstStyle>
          <a:p>
            <a:r>
              <a:rPr lang="en-US"/>
              <a:t>Click to edit Master title style</a:t>
            </a:r>
            <a:endParaRPr lang="en-US" dirty="0"/>
          </a:p>
        </p:txBody>
      </p:sp>
      <p:sp>
        <p:nvSpPr>
          <p:cNvPr id="3" name="Text Placeholder 2"/>
          <p:cNvSpPr>
            <a:spLocks noGrp="1"/>
          </p:cNvSpPr>
          <p:nvPr>
            <p:ph type="body" idx="1"/>
          </p:nvPr>
        </p:nvSpPr>
        <p:spPr>
          <a:xfrm>
            <a:off x="873443" y="18357858"/>
            <a:ext cx="11041380" cy="6000748"/>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26A4F-1D1A-4CA7-9D8A-2FD8AD312A1D}"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1918582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7302500"/>
            <a:ext cx="544068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7302500"/>
            <a:ext cx="544068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326A4F-1D1A-4CA7-9D8A-2FD8AD312A1D}"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80239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1460506"/>
            <a:ext cx="11041380" cy="530225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9" y="6724652"/>
            <a:ext cx="5415676" cy="3295648"/>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4" name="Content Placeholder 3"/>
          <p:cNvSpPr>
            <a:spLocks noGrp="1"/>
          </p:cNvSpPr>
          <p:nvPr>
            <p:ph sz="half" idx="2"/>
          </p:nvPr>
        </p:nvSpPr>
        <p:spPr>
          <a:xfrm>
            <a:off x="881779" y="10020300"/>
            <a:ext cx="5415676"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1" y="6724652"/>
            <a:ext cx="5442347" cy="3295648"/>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6" name="Content Placeholder 5"/>
          <p:cNvSpPr>
            <a:spLocks noGrp="1"/>
          </p:cNvSpPr>
          <p:nvPr>
            <p:ph sz="quarter" idx="4"/>
          </p:nvPr>
        </p:nvSpPr>
        <p:spPr>
          <a:xfrm>
            <a:off x="6480811" y="10020300"/>
            <a:ext cx="5442347"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326A4F-1D1A-4CA7-9D8A-2FD8AD312A1D}" type="datetimeFigureOut">
              <a:rPr lang="en-US" smtClean="0"/>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3610215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326A4F-1D1A-4CA7-9D8A-2FD8AD312A1D}" type="datetimeFigureOut">
              <a:rPr lang="en-US" smtClean="0"/>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2466104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26A4F-1D1A-4CA7-9D8A-2FD8AD312A1D}" type="datetimeFigureOut">
              <a:rPr lang="en-US" smtClean="0"/>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3606644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1828800"/>
            <a:ext cx="4128849" cy="6400800"/>
          </a:xfrm>
        </p:spPr>
        <p:txBody>
          <a:bodyPr anchor="b"/>
          <a:lstStyle>
            <a:lvl1pPr>
              <a:defRPr sz="4480"/>
            </a:lvl1pPr>
          </a:lstStyle>
          <a:p>
            <a:r>
              <a:rPr lang="en-US"/>
              <a:t>Click to edit Master title style</a:t>
            </a:r>
            <a:endParaRPr lang="en-US" dirty="0"/>
          </a:p>
        </p:txBody>
      </p:sp>
      <p:sp>
        <p:nvSpPr>
          <p:cNvPr id="3" name="Content Placeholder 2"/>
          <p:cNvSpPr>
            <a:spLocks noGrp="1"/>
          </p:cNvSpPr>
          <p:nvPr>
            <p:ph idx="1"/>
          </p:nvPr>
        </p:nvSpPr>
        <p:spPr>
          <a:xfrm>
            <a:off x="5442347" y="3949706"/>
            <a:ext cx="6480810" cy="19494500"/>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8229600"/>
            <a:ext cx="4128849" cy="15246352"/>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fld id="{A4326A4F-1D1A-4CA7-9D8A-2FD8AD312A1D}"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3060382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1828800"/>
            <a:ext cx="4128849" cy="6400800"/>
          </a:xfrm>
        </p:spPr>
        <p:txBody>
          <a:bodyPr anchor="b"/>
          <a:lstStyle>
            <a:lvl1pPr>
              <a:defRPr sz="4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3949706"/>
            <a:ext cx="6480810" cy="19494500"/>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US"/>
              <a:t>Click icon to add picture</a:t>
            </a:r>
            <a:endParaRPr lang="en-US" dirty="0"/>
          </a:p>
        </p:txBody>
      </p:sp>
      <p:sp>
        <p:nvSpPr>
          <p:cNvPr id="4" name="Text Placeholder 3"/>
          <p:cNvSpPr>
            <a:spLocks noGrp="1"/>
          </p:cNvSpPr>
          <p:nvPr>
            <p:ph type="body" sz="half" idx="2"/>
          </p:nvPr>
        </p:nvSpPr>
        <p:spPr>
          <a:xfrm>
            <a:off x="881778" y="8229600"/>
            <a:ext cx="4128849" cy="15246352"/>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fld id="{A4326A4F-1D1A-4CA7-9D8A-2FD8AD312A1D}"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249098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26A4F-1D1A-4CA7-9D8A-2FD8AD312A1D}"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1793539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1460500"/>
            <a:ext cx="2760345" cy="2324735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1" y="1460500"/>
            <a:ext cx="8121015"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26A4F-1D1A-4CA7-9D8A-2FD8AD312A1D}"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28C0E0-B116-4558-957F-DE9C1E508947}" type="slidenum">
              <a:rPr lang="en-US" smtClean="0"/>
              <a:t>‹#›</a:t>
            </a:fld>
            <a:endParaRPr lang="en-US"/>
          </a:p>
        </p:txBody>
      </p:sp>
    </p:spTree>
    <p:extLst>
      <p:ext uri="{BB962C8B-B14F-4D97-AF65-F5344CB8AC3E}">
        <p14:creationId xmlns:p14="http://schemas.microsoft.com/office/powerpoint/2010/main" val="1531299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1460506"/>
            <a:ext cx="11041380" cy="530225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7302500"/>
            <a:ext cx="1104138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25425406"/>
            <a:ext cx="2880360" cy="1460500"/>
          </a:xfrm>
          <a:prstGeom prst="rect">
            <a:avLst/>
          </a:prstGeom>
        </p:spPr>
        <p:txBody>
          <a:bodyPr vert="horz" lIns="91440" tIns="45720" rIns="91440" bIns="45720" rtlCol="0" anchor="ctr"/>
          <a:lstStyle>
            <a:lvl1pPr algn="l">
              <a:defRPr sz="1680">
                <a:solidFill>
                  <a:schemeClr val="tx1">
                    <a:tint val="75000"/>
                  </a:schemeClr>
                </a:solidFill>
              </a:defRPr>
            </a:lvl1pPr>
          </a:lstStyle>
          <a:p>
            <a:fld id="{A4326A4F-1D1A-4CA7-9D8A-2FD8AD312A1D}" type="datetimeFigureOut">
              <a:rPr lang="en-US" smtClean="0"/>
              <a:t>7/3/2026</a:t>
            </a:fld>
            <a:endParaRPr lang="en-US"/>
          </a:p>
        </p:txBody>
      </p:sp>
      <p:sp>
        <p:nvSpPr>
          <p:cNvPr id="5" name="Footer Placeholder 4"/>
          <p:cNvSpPr>
            <a:spLocks noGrp="1"/>
          </p:cNvSpPr>
          <p:nvPr>
            <p:ph type="ftr" sz="quarter" idx="3"/>
          </p:nvPr>
        </p:nvSpPr>
        <p:spPr>
          <a:xfrm>
            <a:off x="4240530" y="25425406"/>
            <a:ext cx="4320540" cy="1460500"/>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041130" y="25425406"/>
            <a:ext cx="2880360" cy="1460500"/>
          </a:xfrm>
          <a:prstGeom prst="rect">
            <a:avLst/>
          </a:prstGeom>
        </p:spPr>
        <p:txBody>
          <a:bodyPr vert="horz" lIns="91440" tIns="45720" rIns="91440" bIns="45720" rtlCol="0" anchor="ctr"/>
          <a:lstStyle>
            <a:lvl1pPr algn="r">
              <a:defRPr sz="1680">
                <a:solidFill>
                  <a:schemeClr val="tx1">
                    <a:tint val="75000"/>
                  </a:schemeClr>
                </a:solidFill>
              </a:defRPr>
            </a:lvl1pPr>
          </a:lstStyle>
          <a:p>
            <a:fld id="{D728C0E0-B116-4558-957F-DE9C1E508947}" type="slidenum">
              <a:rPr lang="en-US" smtClean="0"/>
              <a:t>‹#›</a:t>
            </a:fld>
            <a:endParaRPr lang="en-US"/>
          </a:p>
        </p:txBody>
      </p:sp>
    </p:spTree>
    <p:extLst>
      <p:ext uri="{BB962C8B-B14F-4D97-AF65-F5344CB8AC3E}">
        <p14:creationId xmlns:p14="http://schemas.microsoft.com/office/powerpoint/2010/main" val="12267086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F4726580-0B4E-4772-A8C4-7B361A47EFAE}"/>
              </a:ext>
            </a:extLst>
          </p:cNvPr>
          <p:cNvSpPr/>
          <p:nvPr/>
        </p:nvSpPr>
        <p:spPr>
          <a:xfrm>
            <a:off x="1" y="25458056"/>
            <a:ext cx="704850" cy="1973944"/>
          </a:xfrm>
          <a:prstGeom prst="rect">
            <a:avLst/>
          </a:prstGeom>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dirty="0"/>
              <a:t>delete</a:t>
            </a:r>
          </a:p>
        </p:txBody>
      </p:sp>
      <p:sp>
        <p:nvSpPr>
          <p:cNvPr id="113" name="Rectangle 112">
            <a:extLst>
              <a:ext uri="{FF2B5EF4-FFF2-40B4-BE49-F238E27FC236}">
                <a16:creationId xmlns:a16="http://schemas.microsoft.com/office/drawing/2014/main" id="{702529CF-2753-48CB-AFBD-D8E26CCDC19F}"/>
              </a:ext>
            </a:extLst>
          </p:cNvPr>
          <p:cNvSpPr/>
          <p:nvPr/>
        </p:nvSpPr>
        <p:spPr>
          <a:xfrm>
            <a:off x="704851" y="25458057"/>
            <a:ext cx="12096748" cy="1973943"/>
          </a:xfrm>
          <a:prstGeom prst="rect">
            <a:avLst/>
          </a:prstGeom>
          <a:solidFill>
            <a:schemeClr val="accent6">
              <a:lumMod val="20000"/>
              <a:lumOff val="80000"/>
            </a:schemeClr>
          </a:solidFill>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endParaRPr lang="en-US" dirty="0"/>
          </a:p>
        </p:txBody>
      </p:sp>
      <p:sp>
        <p:nvSpPr>
          <p:cNvPr id="97" name="Rectangle 96">
            <a:extLst>
              <a:ext uri="{FF2B5EF4-FFF2-40B4-BE49-F238E27FC236}">
                <a16:creationId xmlns:a16="http://schemas.microsoft.com/office/drawing/2014/main" id="{E7B5378F-2C12-4D7C-8638-E62384FBEA04}"/>
              </a:ext>
            </a:extLst>
          </p:cNvPr>
          <p:cNvSpPr/>
          <p:nvPr/>
        </p:nvSpPr>
        <p:spPr>
          <a:xfrm>
            <a:off x="1" y="23250524"/>
            <a:ext cx="704850" cy="2207534"/>
          </a:xfrm>
          <a:prstGeom prst="rect">
            <a:avLst/>
          </a:prstGeom>
          <a:ln/>
        </p:spPr>
        <p:style>
          <a:lnRef idx="0">
            <a:schemeClr val="accent2"/>
          </a:lnRef>
          <a:fillRef idx="3">
            <a:schemeClr val="accent2"/>
          </a:fillRef>
          <a:effectRef idx="3">
            <a:schemeClr val="accent2"/>
          </a:effectRef>
          <a:fontRef idx="minor">
            <a:schemeClr val="lt1"/>
          </a:fontRef>
        </p:style>
        <p:txBody>
          <a:bodyPr vert="vert270" rtlCol="0" anchor="ctr"/>
          <a:lstStyle/>
          <a:p>
            <a:pPr algn="ctr"/>
            <a:r>
              <a:rPr lang="en-US" dirty="0"/>
              <a:t>Bulk Import</a:t>
            </a:r>
          </a:p>
        </p:txBody>
      </p:sp>
      <p:sp>
        <p:nvSpPr>
          <p:cNvPr id="98" name="Rectangle 97">
            <a:extLst>
              <a:ext uri="{FF2B5EF4-FFF2-40B4-BE49-F238E27FC236}">
                <a16:creationId xmlns:a16="http://schemas.microsoft.com/office/drawing/2014/main" id="{146F10CC-F4CD-408D-A0EC-2FC8DC65719D}"/>
              </a:ext>
            </a:extLst>
          </p:cNvPr>
          <p:cNvSpPr/>
          <p:nvPr/>
        </p:nvSpPr>
        <p:spPr>
          <a:xfrm>
            <a:off x="704851" y="23250524"/>
            <a:ext cx="12096748" cy="2207533"/>
          </a:xfrm>
          <a:prstGeom prst="rect">
            <a:avLst/>
          </a:prstGeom>
          <a:solidFill>
            <a:schemeClr val="accent2">
              <a:lumMod val="20000"/>
              <a:lumOff val="80000"/>
            </a:schemeClr>
          </a:solidFill>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endParaRPr lang="en-US" dirty="0"/>
          </a:p>
        </p:txBody>
      </p:sp>
      <p:sp>
        <p:nvSpPr>
          <p:cNvPr id="82" name="Rectangle 81">
            <a:extLst>
              <a:ext uri="{FF2B5EF4-FFF2-40B4-BE49-F238E27FC236}">
                <a16:creationId xmlns:a16="http://schemas.microsoft.com/office/drawing/2014/main" id="{EF492F3C-8389-4A81-9DA1-179527A01121}"/>
              </a:ext>
            </a:extLst>
          </p:cNvPr>
          <p:cNvSpPr/>
          <p:nvPr/>
        </p:nvSpPr>
        <p:spPr>
          <a:xfrm>
            <a:off x="1" y="16119860"/>
            <a:ext cx="704850" cy="7130664"/>
          </a:xfrm>
          <a:prstGeom prst="rect">
            <a:avLst/>
          </a:prstGeom>
          <a:ln/>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err="1"/>
              <a:t>Exel</a:t>
            </a:r>
            <a:r>
              <a:rPr lang="en-US" dirty="0"/>
              <a:t> Template</a:t>
            </a:r>
          </a:p>
        </p:txBody>
      </p:sp>
      <p:sp>
        <p:nvSpPr>
          <p:cNvPr id="84" name="Rectangle 83">
            <a:extLst>
              <a:ext uri="{FF2B5EF4-FFF2-40B4-BE49-F238E27FC236}">
                <a16:creationId xmlns:a16="http://schemas.microsoft.com/office/drawing/2014/main" id="{594F389F-13A6-4B19-BE4D-066DB591C00B}"/>
              </a:ext>
            </a:extLst>
          </p:cNvPr>
          <p:cNvSpPr/>
          <p:nvPr/>
        </p:nvSpPr>
        <p:spPr>
          <a:xfrm>
            <a:off x="704851" y="16119861"/>
            <a:ext cx="12096748" cy="7130664"/>
          </a:xfrm>
          <a:prstGeom prst="rect">
            <a:avLst/>
          </a:prstGeom>
          <a:solidFill>
            <a:schemeClr val="accent3">
              <a:lumMod val="20000"/>
              <a:lumOff val="80000"/>
            </a:schemeClr>
          </a:solidFill>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endParaRPr lang="en-US" dirty="0"/>
          </a:p>
        </p:txBody>
      </p:sp>
      <p:sp>
        <p:nvSpPr>
          <p:cNvPr id="68" name="Rectangle 67">
            <a:extLst>
              <a:ext uri="{FF2B5EF4-FFF2-40B4-BE49-F238E27FC236}">
                <a16:creationId xmlns:a16="http://schemas.microsoft.com/office/drawing/2014/main" id="{81D81627-EB27-4BC7-AB63-9B45D90618C4}"/>
              </a:ext>
            </a:extLst>
          </p:cNvPr>
          <p:cNvSpPr/>
          <p:nvPr/>
        </p:nvSpPr>
        <p:spPr>
          <a:xfrm>
            <a:off x="1" y="13715998"/>
            <a:ext cx="704850" cy="2403863"/>
          </a:xfrm>
          <a:prstGeom prst="rect">
            <a:avLst/>
          </a:prstGeom>
          <a:ln/>
        </p:spPr>
        <p:style>
          <a:lnRef idx="0">
            <a:schemeClr val="accent2"/>
          </a:lnRef>
          <a:fillRef idx="3">
            <a:schemeClr val="accent2"/>
          </a:fillRef>
          <a:effectRef idx="3">
            <a:schemeClr val="accent2"/>
          </a:effectRef>
          <a:fontRef idx="minor">
            <a:schemeClr val="lt1"/>
          </a:fontRef>
        </p:style>
        <p:txBody>
          <a:bodyPr vert="vert270" rtlCol="0" anchor="ctr"/>
          <a:lstStyle/>
          <a:p>
            <a:pPr algn="ctr"/>
            <a:r>
              <a:rPr lang="en-US" dirty="0"/>
              <a:t>Edit row</a:t>
            </a:r>
          </a:p>
        </p:txBody>
      </p:sp>
      <p:sp>
        <p:nvSpPr>
          <p:cNvPr id="69" name="Rectangle 68">
            <a:extLst>
              <a:ext uri="{FF2B5EF4-FFF2-40B4-BE49-F238E27FC236}">
                <a16:creationId xmlns:a16="http://schemas.microsoft.com/office/drawing/2014/main" id="{E41B7167-DD07-496F-AFA8-BC5FBAF752F3}"/>
              </a:ext>
            </a:extLst>
          </p:cNvPr>
          <p:cNvSpPr/>
          <p:nvPr/>
        </p:nvSpPr>
        <p:spPr>
          <a:xfrm>
            <a:off x="704851" y="13715999"/>
            <a:ext cx="12096748" cy="2403863"/>
          </a:xfrm>
          <a:prstGeom prst="rect">
            <a:avLst/>
          </a:prstGeom>
          <a:solidFill>
            <a:schemeClr val="accent2">
              <a:lumMod val="20000"/>
              <a:lumOff val="80000"/>
            </a:schemeClr>
          </a:solidFill>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endParaRPr lang="en-US" dirty="0"/>
          </a:p>
        </p:txBody>
      </p:sp>
      <p:sp>
        <p:nvSpPr>
          <p:cNvPr id="4" name="Rectangle 3">
            <a:extLst>
              <a:ext uri="{FF2B5EF4-FFF2-40B4-BE49-F238E27FC236}">
                <a16:creationId xmlns:a16="http://schemas.microsoft.com/office/drawing/2014/main" id="{8B6BB176-2787-47EE-AC36-2101B581CDB7}"/>
              </a:ext>
            </a:extLst>
          </p:cNvPr>
          <p:cNvSpPr/>
          <p:nvPr/>
        </p:nvSpPr>
        <p:spPr>
          <a:xfrm>
            <a:off x="-9526" y="0"/>
            <a:ext cx="1280160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Declared Fixed Rows</a:t>
            </a:r>
          </a:p>
        </p:txBody>
      </p:sp>
      <p:sp>
        <p:nvSpPr>
          <p:cNvPr id="5" name="Rectangle 4">
            <a:extLst>
              <a:ext uri="{FF2B5EF4-FFF2-40B4-BE49-F238E27FC236}">
                <a16:creationId xmlns:a16="http://schemas.microsoft.com/office/drawing/2014/main" id="{3B4672FF-C742-4223-92F5-25BE02459D0D}"/>
              </a:ext>
            </a:extLst>
          </p:cNvPr>
          <p:cNvSpPr/>
          <p:nvPr/>
        </p:nvSpPr>
        <p:spPr>
          <a:xfrm>
            <a:off x="2540002" y="747712"/>
            <a:ext cx="8445498" cy="592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Filed is being created by </a:t>
            </a:r>
            <a:r>
              <a:rPr lang="en-US" dirty="0" err="1"/>
              <a:t>superadminin</a:t>
            </a:r>
            <a:r>
              <a:rPr lang="en-US" dirty="0"/>
              <a:t> segment say </a:t>
            </a:r>
            <a:r>
              <a:rPr lang="en-US" dirty="0" err="1"/>
              <a:t>seg_c</a:t>
            </a:r>
            <a:r>
              <a:rPr lang="en-US" dirty="0"/>
              <a:t>. We call it </a:t>
            </a:r>
            <a:r>
              <a:rPr lang="en-US" dirty="0" err="1"/>
              <a:t>fld_c</a:t>
            </a:r>
            <a:r>
              <a:rPr lang="en-US" dirty="0"/>
              <a:t>. there can be multiple fields in a segment which are </a:t>
            </a:r>
            <a:r>
              <a:rPr lang="en-US" dirty="0" err="1"/>
              <a:t>chield</a:t>
            </a:r>
            <a:r>
              <a:rPr lang="en-US" dirty="0"/>
              <a:t> of other </a:t>
            </a:r>
            <a:r>
              <a:rPr lang="en-US" dirty="0" err="1"/>
              <a:t>segmetns’s</a:t>
            </a:r>
            <a:r>
              <a:rPr lang="en-US" dirty="0"/>
              <a:t> parent </a:t>
            </a:r>
            <a:r>
              <a:rPr lang="en-US" dirty="0" err="1"/>
              <a:t>fileds</a:t>
            </a:r>
            <a:endParaRPr lang="en-US" dirty="0"/>
          </a:p>
        </p:txBody>
      </p:sp>
      <p:sp>
        <p:nvSpPr>
          <p:cNvPr id="6" name="Diamond 5">
            <a:extLst>
              <a:ext uri="{FF2B5EF4-FFF2-40B4-BE49-F238E27FC236}">
                <a16:creationId xmlns:a16="http://schemas.microsoft.com/office/drawing/2014/main" id="{E3787633-939D-42C2-9B7C-4F8F603A540A}"/>
              </a:ext>
            </a:extLst>
          </p:cNvPr>
          <p:cNvSpPr/>
          <p:nvPr/>
        </p:nvSpPr>
        <p:spPr>
          <a:xfrm>
            <a:off x="5492751" y="2330450"/>
            <a:ext cx="2540000" cy="10350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it a Common col</a:t>
            </a:r>
          </a:p>
        </p:txBody>
      </p:sp>
      <p:sp>
        <p:nvSpPr>
          <p:cNvPr id="7" name="Rectangle 6">
            <a:extLst>
              <a:ext uri="{FF2B5EF4-FFF2-40B4-BE49-F238E27FC236}">
                <a16:creationId xmlns:a16="http://schemas.microsoft.com/office/drawing/2014/main" id="{CB510C1F-1C4C-4D11-8A64-52F2EAA0C762}"/>
              </a:ext>
            </a:extLst>
          </p:cNvPr>
          <p:cNvSpPr/>
          <p:nvPr/>
        </p:nvSpPr>
        <p:spPr>
          <a:xfrm>
            <a:off x="4445001" y="1555748"/>
            <a:ext cx="4635500" cy="592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Along with other existing options in the filed creation section there will be series of options</a:t>
            </a:r>
          </a:p>
        </p:txBody>
      </p:sp>
      <p:sp>
        <p:nvSpPr>
          <p:cNvPr id="8" name="Rectangle 7">
            <a:extLst>
              <a:ext uri="{FF2B5EF4-FFF2-40B4-BE49-F238E27FC236}">
                <a16:creationId xmlns:a16="http://schemas.microsoft.com/office/drawing/2014/main" id="{E1791262-46F4-455B-8A5F-CBE1F143357D}"/>
              </a:ext>
            </a:extLst>
          </p:cNvPr>
          <p:cNvSpPr/>
          <p:nvPr/>
        </p:nvSpPr>
        <p:spPr>
          <a:xfrm>
            <a:off x="1924051" y="3484563"/>
            <a:ext cx="4165600" cy="592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not declared, then it will be as per the current logical flow</a:t>
            </a:r>
          </a:p>
        </p:txBody>
      </p:sp>
      <p:sp>
        <p:nvSpPr>
          <p:cNvPr id="9" name="Rectangle 8">
            <a:extLst>
              <a:ext uri="{FF2B5EF4-FFF2-40B4-BE49-F238E27FC236}">
                <a16:creationId xmlns:a16="http://schemas.microsoft.com/office/drawing/2014/main" id="{924E43AE-F73B-4ACB-8E93-A9AFDE34539A}"/>
              </a:ext>
            </a:extLst>
          </p:cNvPr>
          <p:cNvSpPr/>
          <p:nvPr/>
        </p:nvSpPr>
        <p:spPr>
          <a:xfrm>
            <a:off x="1281113" y="5091943"/>
            <a:ext cx="5248270" cy="875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Select Parent segment say </a:t>
            </a:r>
            <a:r>
              <a:rPr lang="en-US" dirty="0" err="1"/>
              <a:t>seg_p</a:t>
            </a:r>
            <a:r>
              <a:rPr lang="en-US" dirty="0"/>
              <a:t> and field say </a:t>
            </a:r>
            <a:r>
              <a:rPr lang="en-US" dirty="0" err="1"/>
              <a:t>fld_p</a:t>
            </a:r>
            <a:r>
              <a:rPr lang="en-US" dirty="0"/>
              <a:t> system will declare that filed mandatory at input automatically</a:t>
            </a:r>
          </a:p>
        </p:txBody>
      </p:sp>
      <p:cxnSp>
        <p:nvCxnSpPr>
          <p:cNvPr id="11" name="Connector: Elbow 10">
            <a:extLst>
              <a:ext uri="{FF2B5EF4-FFF2-40B4-BE49-F238E27FC236}">
                <a16:creationId xmlns:a16="http://schemas.microsoft.com/office/drawing/2014/main" id="{C0B4FEAC-3DD2-456C-8CAB-D9725D60E58C}"/>
              </a:ext>
            </a:extLst>
          </p:cNvPr>
          <p:cNvCxnSpPr>
            <a:cxnSpLocks/>
            <a:stCxn id="6" idx="3"/>
            <a:endCxn id="83" idx="0"/>
          </p:cNvCxnSpPr>
          <p:nvPr/>
        </p:nvCxnSpPr>
        <p:spPr>
          <a:xfrm>
            <a:off x="8032751" y="2847975"/>
            <a:ext cx="1508124" cy="78547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3" name="Connector: Elbow 12">
            <a:extLst>
              <a:ext uri="{FF2B5EF4-FFF2-40B4-BE49-F238E27FC236}">
                <a16:creationId xmlns:a16="http://schemas.microsoft.com/office/drawing/2014/main" id="{7B5D70AC-C180-4FD7-87BA-9CF1FD8AEF48}"/>
              </a:ext>
            </a:extLst>
          </p:cNvPr>
          <p:cNvCxnSpPr>
            <a:cxnSpLocks/>
            <a:stCxn id="6" idx="1"/>
            <a:endCxn id="8" idx="0"/>
          </p:cNvCxnSpPr>
          <p:nvPr/>
        </p:nvCxnSpPr>
        <p:spPr>
          <a:xfrm rot="10800000" flipV="1">
            <a:off x="4006851" y="2847975"/>
            <a:ext cx="1485900" cy="63658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13A87379-B192-4027-9E04-23F7E9FC8EFF}"/>
              </a:ext>
            </a:extLst>
          </p:cNvPr>
          <p:cNvCxnSpPr>
            <a:cxnSpLocks/>
            <a:stCxn id="5" idx="2"/>
            <a:endCxn id="7" idx="0"/>
          </p:cNvCxnSpPr>
          <p:nvPr/>
        </p:nvCxnSpPr>
        <p:spPr>
          <a:xfrm>
            <a:off x="6762751" y="1339850"/>
            <a:ext cx="0" cy="2158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CBFE09EC-C581-44DB-9E42-DBA94372B3F3}"/>
              </a:ext>
            </a:extLst>
          </p:cNvPr>
          <p:cNvCxnSpPr>
            <a:cxnSpLocks/>
            <a:stCxn id="7" idx="2"/>
            <a:endCxn id="6" idx="0"/>
          </p:cNvCxnSpPr>
          <p:nvPr/>
        </p:nvCxnSpPr>
        <p:spPr>
          <a:xfrm>
            <a:off x="6762751" y="2147887"/>
            <a:ext cx="0" cy="1825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4E1E569D-5ADC-4612-9C6B-62EA86380E7F}"/>
              </a:ext>
            </a:extLst>
          </p:cNvPr>
          <p:cNvSpPr/>
          <p:nvPr/>
        </p:nvSpPr>
        <p:spPr>
          <a:xfrm>
            <a:off x="8020050" y="2482852"/>
            <a:ext cx="85725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YES</a:t>
            </a:r>
          </a:p>
        </p:txBody>
      </p:sp>
      <p:sp>
        <p:nvSpPr>
          <p:cNvPr id="20" name="Rectangle 19">
            <a:extLst>
              <a:ext uri="{FF2B5EF4-FFF2-40B4-BE49-F238E27FC236}">
                <a16:creationId xmlns:a16="http://schemas.microsoft.com/office/drawing/2014/main" id="{44A27A2B-2B1E-4CF4-B301-F5A248E79860}"/>
              </a:ext>
            </a:extLst>
          </p:cNvPr>
          <p:cNvSpPr/>
          <p:nvPr/>
        </p:nvSpPr>
        <p:spPr>
          <a:xfrm>
            <a:off x="4625975" y="2482852"/>
            <a:ext cx="85725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NO</a:t>
            </a:r>
          </a:p>
        </p:txBody>
      </p:sp>
      <p:cxnSp>
        <p:nvCxnSpPr>
          <p:cNvPr id="26" name="Straight Arrow Connector 25">
            <a:extLst>
              <a:ext uri="{FF2B5EF4-FFF2-40B4-BE49-F238E27FC236}">
                <a16:creationId xmlns:a16="http://schemas.microsoft.com/office/drawing/2014/main" id="{37000F32-72D1-49A8-9C2C-09C86D25ACF9}"/>
              </a:ext>
            </a:extLst>
          </p:cNvPr>
          <p:cNvCxnSpPr>
            <a:cxnSpLocks/>
            <a:stCxn id="9" idx="2"/>
            <a:endCxn id="34" idx="0"/>
          </p:cNvCxnSpPr>
          <p:nvPr/>
        </p:nvCxnSpPr>
        <p:spPr>
          <a:xfrm>
            <a:off x="3905248" y="5966971"/>
            <a:ext cx="0" cy="3284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Rectangle 33">
            <a:extLst>
              <a:ext uri="{FF2B5EF4-FFF2-40B4-BE49-F238E27FC236}">
                <a16:creationId xmlns:a16="http://schemas.microsoft.com/office/drawing/2014/main" id="{97F09D6A-FEE1-4997-8260-E338FE710935}"/>
              </a:ext>
            </a:extLst>
          </p:cNvPr>
          <p:cNvSpPr/>
          <p:nvPr/>
        </p:nvSpPr>
        <p:spPr>
          <a:xfrm>
            <a:off x="1281112" y="6295434"/>
            <a:ext cx="5248271" cy="875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Now in that user’s UI in that </a:t>
            </a:r>
            <a:r>
              <a:rPr lang="en-US" dirty="0" err="1"/>
              <a:t>seg_c</a:t>
            </a:r>
            <a:r>
              <a:rPr lang="en-US" dirty="0"/>
              <a:t>, the </a:t>
            </a:r>
            <a:r>
              <a:rPr lang="en-US" dirty="0" err="1"/>
              <a:t>fld_c</a:t>
            </a:r>
            <a:r>
              <a:rPr lang="en-US" dirty="0"/>
              <a:t> will have values picked from the </a:t>
            </a:r>
            <a:r>
              <a:rPr lang="en-US" dirty="0" err="1"/>
              <a:t>fld_p</a:t>
            </a:r>
            <a:r>
              <a:rPr lang="en-US" dirty="0"/>
              <a:t> of </a:t>
            </a:r>
            <a:r>
              <a:rPr lang="en-US" dirty="0" err="1"/>
              <a:t>seg_p</a:t>
            </a:r>
            <a:r>
              <a:rPr lang="en-US" dirty="0"/>
              <a:t> of that user.</a:t>
            </a:r>
          </a:p>
        </p:txBody>
      </p:sp>
      <p:sp>
        <p:nvSpPr>
          <p:cNvPr id="47" name="Rectangle 46">
            <a:extLst>
              <a:ext uri="{FF2B5EF4-FFF2-40B4-BE49-F238E27FC236}">
                <a16:creationId xmlns:a16="http://schemas.microsoft.com/office/drawing/2014/main" id="{462035AF-1D20-4D50-9628-ABE114966806}"/>
              </a:ext>
            </a:extLst>
          </p:cNvPr>
          <p:cNvSpPr/>
          <p:nvPr/>
        </p:nvSpPr>
        <p:spPr>
          <a:xfrm>
            <a:off x="6206814" y="4333612"/>
            <a:ext cx="1759899"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n w="0"/>
                <a:solidFill>
                  <a:schemeClr val="tx1"/>
                </a:solidFill>
                <a:effectLst>
                  <a:outerShdw blurRad="38100" dist="19050" dir="2700000" algn="tl" rotWithShape="0">
                    <a:schemeClr val="dk1">
                      <a:alpha val="40000"/>
                    </a:schemeClr>
                  </a:outerShdw>
                </a:effectLst>
              </a:rPr>
              <a:t>User defined</a:t>
            </a:r>
          </a:p>
        </p:txBody>
      </p:sp>
      <p:sp>
        <p:nvSpPr>
          <p:cNvPr id="63" name="Rectangle 62">
            <a:extLst>
              <a:ext uri="{FF2B5EF4-FFF2-40B4-BE49-F238E27FC236}">
                <a16:creationId xmlns:a16="http://schemas.microsoft.com/office/drawing/2014/main" id="{3707F034-D057-42F4-B75E-5E40F8B53BC7}"/>
              </a:ext>
            </a:extLst>
          </p:cNvPr>
          <p:cNvSpPr/>
          <p:nvPr/>
        </p:nvSpPr>
        <p:spPr>
          <a:xfrm>
            <a:off x="1281112" y="7532256"/>
            <a:ext cx="5248271" cy="8990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cannot change entry of </a:t>
            </a:r>
            <a:r>
              <a:rPr lang="en-US" dirty="0" err="1"/>
              <a:t>fld_c</a:t>
            </a:r>
            <a:r>
              <a:rPr lang="en-US" dirty="0"/>
              <a:t>. however if </a:t>
            </a:r>
            <a:r>
              <a:rPr lang="en-US" dirty="0" err="1"/>
              <a:t>fld_p</a:t>
            </a:r>
            <a:r>
              <a:rPr lang="en-US" dirty="0"/>
              <a:t> is changed then it will take changed value automatically</a:t>
            </a:r>
          </a:p>
        </p:txBody>
      </p:sp>
      <p:cxnSp>
        <p:nvCxnSpPr>
          <p:cNvPr id="64" name="Straight Arrow Connector 63">
            <a:extLst>
              <a:ext uri="{FF2B5EF4-FFF2-40B4-BE49-F238E27FC236}">
                <a16:creationId xmlns:a16="http://schemas.microsoft.com/office/drawing/2014/main" id="{F9713DB5-99FF-4C8B-BCA9-08E22238D5F5}"/>
              </a:ext>
            </a:extLst>
          </p:cNvPr>
          <p:cNvCxnSpPr>
            <a:cxnSpLocks/>
            <a:stCxn id="34" idx="2"/>
            <a:endCxn id="63" idx="0"/>
          </p:cNvCxnSpPr>
          <p:nvPr/>
        </p:nvCxnSpPr>
        <p:spPr>
          <a:xfrm>
            <a:off x="3905248" y="7170462"/>
            <a:ext cx="0" cy="3617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Rectangle 65">
            <a:extLst>
              <a:ext uri="{FF2B5EF4-FFF2-40B4-BE49-F238E27FC236}">
                <a16:creationId xmlns:a16="http://schemas.microsoft.com/office/drawing/2014/main" id="{A162F49F-46EE-47F3-B2D5-FB6464C4E7FB}"/>
              </a:ext>
            </a:extLst>
          </p:cNvPr>
          <p:cNvSpPr/>
          <p:nvPr/>
        </p:nvSpPr>
        <p:spPr>
          <a:xfrm>
            <a:off x="1165072" y="11150490"/>
            <a:ext cx="2390775" cy="9620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 it is fixed, user cannot add new rows in </a:t>
            </a:r>
            <a:r>
              <a:rPr lang="en-US" dirty="0" err="1"/>
              <a:t>seg_c</a:t>
            </a:r>
            <a:r>
              <a:rPr lang="en-US" dirty="0"/>
              <a:t>.</a:t>
            </a:r>
          </a:p>
        </p:txBody>
      </p:sp>
      <p:cxnSp>
        <p:nvCxnSpPr>
          <p:cNvPr id="67" name="Straight Arrow Connector 66">
            <a:extLst>
              <a:ext uri="{FF2B5EF4-FFF2-40B4-BE49-F238E27FC236}">
                <a16:creationId xmlns:a16="http://schemas.microsoft.com/office/drawing/2014/main" id="{F2FE43FC-0FE7-4354-BF86-56F049D7B79F}"/>
              </a:ext>
            </a:extLst>
          </p:cNvPr>
          <p:cNvCxnSpPr>
            <a:cxnSpLocks/>
            <a:endCxn id="66" idx="0"/>
          </p:cNvCxnSpPr>
          <p:nvPr/>
        </p:nvCxnSpPr>
        <p:spPr>
          <a:xfrm>
            <a:off x="2360460" y="10682176"/>
            <a:ext cx="0" cy="4683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4" name="Rectangle 73">
            <a:extLst>
              <a:ext uri="{FF2B5EF4-FFF2-40B4-BE49-F238E27FC236}">
                <a16:creationId xmlns:a16="http://schemas.microsoft.com/office/drawing/2014/main" id="{A1DF4560-8043-4A24-9016-87FEF6A0CCBC}"/>
              </a:ext>
            </a:extLst>
          </p:cNvPr>
          <p:cNvSpPr/>
          <p:nvPr/>
        </p:nvSpPr>
        <p:spPr>
          <a:xfrm>
            <a:off x="4138608" y="11150490"/>
            <a:ext cx="2390775" cy="9620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 it is addable, user can add new rows in </a:t>
            </a:r>
            <a:r>
              <a:rPr lang="en-US" dirty="0" err="1"/>
              <a:t>seg_c</a:t>
            </a:r>
            <a:r>
              <a:rPr lang="en-US" dirty="0"/>
              <a:t>.</a:t>
            </a:r>
          </a:p>
        </p:txBody>
      </p:sp>
      <p:cxnSp>
        <p:nvCxnSpPr>
          <p:cNvPr id="75" name="Straight Arrow Connector 74">
            <a:extLst>
              <a:ext uri="{FF2B5EF4-FFF2-40B4-BE49-F238E27FC236}">
                <a16:creationId xmlns:a16="http://schemas.microsoft.com/office/drawing/2014/main" id="{3D26BFA5-4F70-495B-A191-00A36AB2CCFB}"/>
              </a:ext>
            </a:extLst>
          </p:cNvPr>
          <p:cNvCxnSpPr>
            <a:cxnSpLocks/>
            <a:endCxn id="74" idx="0"/>
          </p:cNvCxnSpPr>
          <p:nvPr/>
        </p:nvCxnSpPr>
        <p:spPr>
          <a:xfrm>
            <a:off x="5333996" y="10682176"/>
            <a:ext cx="0" cy="4683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9" name="Rectangle 78">
            <a:extLst>
              <a:ext uri="{FF2B5EF4-FFF2-40B4-BE49-F238E27FC236}">
                <a16:creationId xmlns:a16="http://schemas.microsoft.com/office/drawing/2014/main" id="{6E8C605F-C46B-4EF4-A6F0-C15F15FC4BBF}"/>
              </a:ext>
            </a:extLst>
          </p:cNvPr>
          <p:cNvSpPr/>
          <p:nvPr/>
        </p:nvSpPr>
        <p:spPr>
          <a:xfrm>
            <a:off x="2000252" y="9900332"/>
            <a:ext cx="101600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n w="0"/>
                <a:solidFill>
                  <a:schemeClr val="tx1"/>
                </a:solidFill>
                <a:effectLst>
                  <a:outerShdw blurRad="38100" dist="19050" dir="2700000" algn="tl" rotWithShape="0">
                    <a:schemeClr val="dk1">
                      <a:alpha val="40000"/>
                    </a:schemeClr>
                  </a:outerShdw>
                </a:effectLst>
              </a:rPr>
              <a:t>fixed</a:t>
            </a:r>
          </a:p>
        </p:txBody>
      </p:sp>
      <p:sp>
        <p:nvSpPr>
          <p:cNvPr id="80" name="Rectangle 79">
            <a:extLst>
              <a:ext uri="{FF2B5EF4-FFF2-40B4-BE49-F238E27FC236}">
                <a16:creationId xmlns:a16="http://schemas.microsoft.com/office/drawing/2014/main" id="{6801A154-EBBB-4DB0-BA05-65F65A3EC8A1}"/>
              </a:ext>
            </a:extLst>
          </p:cNvPr>
          <p:cNvSpPr/>
          <p:nvPr/>
        </p:nvSpPr>
        <p:spPr>
          <a:xfrm>
            <a:off x="5161601" y="9889162"/>
            <a:ext cx="101600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n w="0"/>
                <a:solidFill>
                  <a:schemeClr val="tx1"/>
                </a:solidFill>
                <a:effectLst>
                  <a:outerShdw blurRad="38100" dist="19050" dir="2700000" algn="tl" rotWithShape="0">
                    <a:schemeClr val="dk1">
                      <a:alpha val="40000"/>
                    </a:schemeClr>
                  </a:outerShdw>
                </a:effectLst>
              </a:rPr>
              <a:t>addable</a:t>
            </a:r>
          </a:p>
        </p:txBody>
      </p:sp>
      <p:sp>
        <p:nvSpPr>
          <p:cNvPr id="83" name="Diamond 82">
            <a:extLst>
              <a:ext uri="{FF2B5EF4-FFF2-40B4-BE49-F238E27FC236}">
                <a16:creationId xmlns:a16="http://schemas.microsoft.com/office/drawing/2014/main" id="{D445E113-8519-49FE-BE9B-23757F2EED0F}"/>
              </a:ext>
            </a:extLst>
          </p:cNvPr>
          <p:cNvSpPr/>
          <p:nvPr/>
        </p:nvSpPr>
        <p:spPr>
          <a:xfrm>
            <a:off x="8270875" y="3633452"/>
            <a:ext cx="2540000" cy="124287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User_def</a:t>
            </a:r>
            <a:r>
              <a:rPr lang="en-US" dirty="0"/>
              <a:t>/</a:t>
            </a:r>
          </a:p>
          <a:p>
            <a:pPr algn="ctr"/>
            <a:r>
              <a:rPr lang="en-US" dirty="0" err="1"/>
              <a:t>admin_def</a:t>
            </a:r>
            <a:r>
              <a:rPr lang="en-US" dirty="0"/>
              <a:t>?</a:t>
            </a:r>
          </a:p>
        </p:txBody>
      </p:sp>
      <p:cxnSp>
        <p:nvCxnSpPr>
          <p:cNvPr id="87" name="Connector: Elbow 86">
            <a:extLst>
              <a:ext uri="{FF2B5EF4-FFF2-40B4-BE49-F238E27FC236}">
                <a16:creationId xmlns:a16="http://schemas.microsoft.com/office/drawing/2014/main" id="{D8746306-A5B6-45AD-9644-783D1662733A}"/>
              </a:ext>
            </a:extLst>
          </p:cNvPr>
          <p:cNvCxnSpPr>
            <a:cxnSpLocks/>
            <a:stCxn id="83" idx="1"/>
            <a:endCxn id="9" idx="0"/>
          </p:cNvCxnSpPr>
          <p:nvPr/>
        </p:nvCxnSpPr>
        <p:spPr>
          <a:xfrm rot="10800000" flipV="1">
            <a:off x="3905249" y="4254887"/>
            <a:ext cx="4365627" cy="837055"/>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92" name="Diamond 91">
            <a:extLst>
              <a:ext uri="{FF2B5EF4-FFF2-40B4-BE49-F238E27FC236}">
                <a16:creationId xmlns:a16="http://schemas.microsoft.com/office/drawing/2014/main" id="{9113756D-56A9-4320-AC7F-7ECA93E0B802}"/>
              </a:ext>
            </a:extLst>
          </p:cNvPr>
          <p:cNvSpPr/>
          <p:nvPr/>
        </p:nvSpPr>
        <p:spPr>
          <a:xfrm>
            <a:off x="2635251" y="9690292"/>
            <a:ext cx="2540000" cy="124287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Fixed/</a:t>
            </a:r>
          </a:p>
          <a:p>
            <a:pPr algn="ctr"/>
            <a:r>
              <a:rPr lang="en-US" dirty="0"/>
              <a:t>addable?</a:t>
            </a:r>
          </a:p>
        </p:txBody>
      </p:sp>
      <p:cxnSp>
        <p:nvCxnSpPr>
          <p:cNvPr id="94" name="Connector: Elbow 93">
            <a:extLst>
              <a:ext uri="{FF2B5EF4-FFF2-40B4-BE49-F238E27FC236}">
                <a16:creationId xmlns:a16="http://schemas.microsoft.com/office/drawing/2014/main" id="{DDB74141-91E3-4688-AE1B-A410DAE3557C}"/>
              </a:ext>
            </a:extLst>
          </p:cNvPr>
          <p:cNvCxnSpPr>
            <a:stCxn id="92" idx="3"/>
            <a:endCxn id="74" idx="0"/>
          </p:cNvCxnSpPr>
          <p:nvPr/>
        </p:nvCxnSpPr>
        <p:spPr>
          <a:xfrm>
            <a:off x="5175251" y="10311728"/>
            <a:ext cx="158745" cy="83876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96" name="Connector: Elbow 95">
            <a:extLst>
              <a:ext uri="{FF2B5EF4-FFF2-40B4-BE49-F238E27FC236}">
                <a16:creationId xmlns:a16="http://schemas.microsoft.com/office/drawing/2014/main" id="{C7E48997-28E1-4F5D-8E70-9DBB9BFFEC08}"/>
              </a:ext>
            </a:extLst>
          </p:cNvPr>
          <p:cNvCxnSpPr>
            <a:stCxn id="92" idx="1"/>
            <a:endCxn id="66" idx="0"/>
          </p:cNvCxnSpPr>
          <p:nvPr/>
        </p:nvCxnSpPr>
        <p:spPr>
          <a:xfrm rot="10800000" flipV="1">
            <a:off x="2360461" y="10311728"/>
            <a:ext cx="274791" cy="83876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100" name="Rectangle 99">
            <a:extLst>
              <a:ext uri="{FF2B5EF4-FFF2-40B4-BE49-F238E27FC236}">
                <a16:creationId xmlns:a16="http://schemas.microsoft.com/office/drawing/2014/main" id="{A10A1948-DE03-4AE2-B2DA-EB273FB1FF8B}"/>
              </a:ext>
            </a:extLst>
          </p:cNvPr>
          <p:cNvSpPr/>
          <p:nvPr/>
        </p:nvSpPr>
        <p:spPr>
          <a:xfrm>
            <a:off x="8709024" y="5374831"/>
            <a:ext cx="3613150" cy="592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Superadmin</a:t>
            </a:r>
            <a:r>
              <a:rPr lang="en-US" dirty="0"/>
              <a:t> will provide the row content for that field</a:t>
            </a:r>
          </a:p>
        </p:txBody>
      </p:sp>
      <p:cxnSp>
        <p:nvCxnSpPr>
          <p:cNvPr id="102" name="Connector: Elbow 101">
            <a:extLst>
              <a:ext uri="{FF2B5EF4-FFF2-40B4-BE49-F238E27FC236}">
                <a16:creationId xmlns:a16="http://schemas.microsoft.com/office/drawing/2014/main" id="{30EE5940-AE03-40FB-93C3-F2A8B68A2953}"/>
              </a:ext>
            </a:extLst>
          </p:cNvPr>
          <p:cNvCxnSpPr>
            <a:stCxn id="83" idx="3"/>
          </p:cNvCxnSpPr>
          <p:nvPr/>
        </p:nvCxnSpPr>
        <p:spPr>
          <a:xfrm>
            <a:off x="10810875" y="4254888"/>
            <a:ext cx="405290" cy="1119943"/>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03" name="Straight Arrow Connector 102">
            <a:extLst>
              <a:ext uri="{FF2B5EF4-FFF2-40B4-BE49-F238E27FC236}">
                <a16:creationId xmlns:a16="http://schemas.microsoft.com/office/drawing/2014/main" id="{11EA37CE-8143-4AB1-BCBE-0B77B18F4B92}"/>
              </a:ext>
            </a:extLst>
          </p:cNvPr>
          <p:cNvCxnSpPr>
            <a:cxnSpLocks/>
            <a:stCxn id="63" idx="2"/>
            <a:endCxn id="92" idx="0"/>
          </p:cNvCxnSpPr>
          <p:nvPr/>
        </p:nvCxnSpPr>
        <p:spPr>
          <a:xfrm>
            <a:off x="3905248" y="8431260"/>
            <a:ext cx="3" cy="12590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0" name="Rectangle 109">
            <a:extLst>
              <a:ext uri="{FF2B5EF4-FFF2-40B4-BE49-F238E27FC236}">
                <a16:creationId xmlns:a16="http://schemas.microsoft.com/office/drawing/2014/main" id="{FB337D9C-F7F5-4712-93D5-2BA42B343357}"/>
              </a:ext>
            </a:extLst>
          </p:cNvPr>
          <p:cNvSpPr/>
          <p:nvPr/>
        </p:nvSpPr>
        <p:spPr>
          <a:xfrm>
            <a:off x="7073903" y="6295434"/>
            <a:ext cx="5248271" cy="875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Now in that user’s UI in that </a:t>
            </a:r>
            <a:r>
              <a:rPr lang="en-US" dirty="0" err="1"/>
              <a:t>seg_c</a:t>
            </a:r>
            <a:r>
              <a:rPr lang="en-US" dirty="0"/>
              <a:t>, the </a:t>
            </a:r>
            <a:r>
              <a:rPr lang="en-US" dirty="0" err="1"/>
              <a:t>fld_c</a:t>
            </a:r>
            <a:r>
              <a:rPr lang="en-US" dirty="0"/>
              <a:t> will have values from the row content declared by </a:t>
            </a:r>
            <a:r>
              <a:rPr lang="en-US" dirty="0" err="1"/>
              <a:t>superadmin</a:t>
            </a:r>
            <a:endParaRPr lang="en-US" dirty="0"/>
          </a:p>
        </p:txBody>
      </p:sp>
      <p:cxnSp>
        <p:nvCxnSpPr>
          <p:cNvPr id="111" name="Straight Arrow Connector 110">
            <a:extLst>
              <a:ext uri="{FF2B5EF4-FFF2-40B4-BE49-F238E27FC236}">
                <a16:creationId xmlns:a16="http://schemas.microsoft.com/office/drawing/2014/main" id="{59928D96-DE13-46DC-BF29-461C40FCEF34}"/>
              </a:ext>
            </a:extLst>
          </p:cNvPr>
          <p:cNvCxnSpPr>
            <a:cxnSpLocks/>
          </p:cNvCxnSpPr>
          <p:nvPr/>
        </p:nvCxnSpPr>
        <p:spPr>
          <a:xfrm>
            <a:off x="10692288" y="5966970"/>
            <a:ext cx="0" cy="3284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5" name="Rectangle 114">
            <a:extLst>
              <a:ext uri="{FF2B5EF4-FFF2-40B4-BE49-F238E27FC236}">
                <a16:creationId xmlns:a16="http://schemas.microsoft.com/office/drawing/2014/main" id="{F341E8C0-FC18-480D-BA7A-315093E8EF4D}"/>
              </a:ext>
            </a:extLst>
          </p:cNvPr>
          <p:cNvSpPr/>
          <p:nvPr/>
        </p:nvSpPr>
        <p:spPr>
          <a:xfrm>
            <a:off x="7073903" y="7532256"/>
            <a:ext cx="5248271" cy="1526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cannot change entry of </a:t>
            </a:r>
            <a:r>
              <a:rPr lang="en-US" dirty="0" err="1"/>
              <a:t>fld_c</a:t>
            </a:r>
            <a:r>
              <a:rPr lang="en-US" dirty="0"/>
              <a:t>. however if </a:t>
            </a:r>
            <a:r>
              <a:rPr lang="en-US" dirty="0" err="1"/>
              <a:t>superadmin</a:t>
            </a:r>
            <a:r>
              <a:rPr lang="en-US" dirty="0"/>
              <a:t> change row contents then corresponding values will be changed in user UI automatically. </a:t>
            </a:r>
            <a:r>
              <a:rPr lang="en-US" dirty="0" err="1"/>
              <a:t>Superadmin</a:t>
            </a:r>
            <a:r>
              <a:rPr lang="en-US" dirty="0"/>
              <a:t> can add/edit/delete/change serial of row </a:t>
            </a:r>
            <a:r>
              <a:rPr lang="en-US" dirty="0" err="1"/>
              <a:t>contetnt</a:t>
            </a:r>
            <a:endParaRPr lang="en-US" dirty="0"/>
          </a:p>
        </p:txBody>
      </p:sp>
      <p:cxnSp>
        <p:nvCxnSpPr>
          <p:cNvPr id="116" name="Straight Arrow Connector 115">
            <a:extLst>
              <a:ext uri="{FF2B5EF4-FFF2-40B4-BE49-F238E27FC236}">
                <a16:creationId xmlns:a16="http://schemas.microsoft.com/office/drawing/2014/main" id="{1EF313EE-DEF7-435C-B2B8-7A236D699237}"/>
              </a:ext>
            </a:extLst>
          </p:cNvPr>
          <p:cNvCxnSpPr>
            <a:cxnSpLocks/>
            <a:endCxn id="115" idx="0"/>
          </p:cNvCxnSpPr>
          <p:nvPr/>
        </p:nvCxnSpPr>
        <p:spPr>
          <a:xfrm>
            <a:off x="9698039" y="7170462"/>
            <a:ext cx="0" cy="3617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8" name="Rectangle 117">
            <a:extLst>
              <a:ext uri="{FF2B5EF4-FFF2-40B4-BE49-F238E27FC236}">
                <a16:creationId xmlns:a16="http://schemas.microsoft.com/office/drawing/2014/main" id="{16C36401-28B7-4F81-AD08-6A584626BF5B}"/>
              </a:ext>
            </a:extLst>
          </p:cNvPr>
          <p:cNvSpPr/>
          <p:nvPr/>
        </p:nvSpPr>
        <p:spPr>
          <a:xfrm>
            <a:off x="6957856" y="11150490"/>
            <a:ext cx="2390775" cy="9620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 it is fixed, user cannot add new rows in </a:t>
            </a:r>
            <a:r>
              <a:rPr lang="en-US" dirty="0" err="1"/>
              <a:t>seg_c</a:t>
            </a:r>
            <a:r>
              <a:rPr lang="en-US" dirty="0"/>
              <a:t>.</a:t>
            </a:r>
          </a:p>
        </p:txBody>
      </p:sp>
      <p:cxnSp>
        <p:nvCxnSpPr>
          <p:cNvPr id="119" name="Straight Arrow Connector 118">
            <a:extLst>
              <a:ext uri="{FF2B5EF4-FFF2-40B4-BE49-F238E27FC236}">
                <a16:creationId xmlns:a16="http://schemas.microsoft.com/office/drawing/2014/main" id="{D7A9C1B2-FE86-41B7-90F3-D03CEC1EAEBA}"/>
              </a:ext>
            </a:extLst>
          </p:cNvPr>
          <p:cNvCxnSpPr>
            <a:cxnSpLocks/>
            <a:endCxn id="118" idx="0"/>
          </p:cNvCxnSpPr>
          <p:nvPr/>
        </p:nvCxnSpPr>
        <p:spPr>
          <a:xfrm>
            <a:off x="8153244" y="10682176"/>
            <a:ext cx="0" cy="4683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0" name="Rectangle 119">
            <a:extLst>
              <a:ext uri="{FF2B5EF4-FFF2-40B4-BE49-F238E27FC236}">
                <a16:creationId xmlns:a16="http://schemas.microsoft.com/office/drawing/2014/main" id="{5C4D8809-9248-4715-90FE-45EF4F05CD2D}"/>
              </a:ext>
            </a:extLst>
          </p:cNvPr>
          <p:cNvSpPr/>
          <p:nvPr/>
        </p:nvSpPr>
        <p:spPr>
          <a:xfrm>
            <a:off x="9931392" y="11150490"/>
            <a:ext cx="2390775" cy="9620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 it is addable, user can add new rows in </a:t>
            </a:r>
            <a:r>
              <a:rPr lang="en-US" dirty="0" err="1"/>
              <a:t>seg_c</a:t>
            </a:r>
            <a:r>
              <a:rPr lang="en-US" dirty="0"/>
              <a:t>.</a:t>
            </a:r>
          </a:p>
        </p:txBody>
      </p:sp>
      <p:sp>
        <p:nvSpPr>
          <p:cNvPr id="122" name="Rectangle 121">
            <a:extLst>
              <a:ext uri="{FF2B5EF4-FFF2-40B4-BE49-F238E27FC236}">
                <a16:creationId xmlns:a16="http://schemas.microsoft.com/office/drawing/2014/main" id="{E2FEBC89-947C-4CEB-B1B0-1AE85316D865}"/>
              </a:ext>
            </a:extLst>
          </p:cNvPr>
          <p:cNvSpPr/>
          <p:nvPr/>
        </p:nvSpPr>
        <p:spPr>
          <a:xfrm>
            <a:off x="7793036" y="9900332"/>
            <a:ext cx="101600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n w="0"/>
                <a:solidFill>
                  <a:schemeClr val="tx1"/>
                </a:solidFill>
                <a:effectLst>
                  <a:outerShdw blurRad="38100" dist="19050" dir="2700000" algn="tl" rotWithShape="0">
                    <a:schemeClr val="dk1">
                      <a:alpha val="40000"/>
                    </a:schemeClr>
                  </a:outerShdw>
                </a:effectLst>
              </a:rPr>
              <a:t>fixed</a:t>
            </a:r>
          </a:p>
        </p:txBody>
      </p:sp>
      <p:sp>
        <p:nvSpPr>
          <p:cNvPr id="123" name="Rectangle 122">
            <a:extLst>
              <a:ext uri="{FF2B5EF4-FFF2-40B4-BE49-F238E27FC236}">
                <a16:creationId xmlns:a16="http://schemas.microsoft.com/office/drawing/2014/main" id="{9DB66AC4-0C5C-4F5E-94D2-8F53A9E9DB1A}"/>
              </a:ext>
            </a:extLst>
          </p:cNvPr>
          <p:cNvSpPr/>
          <p:nvPr/>
        </p:nvSpPr>
        <p:spPr>
          <a:xfrm>
            <a:off x="10954385" y="9889162"/>
            <a:ext cx="101600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n w="0"/>
                <a:solidFill>
                  <a:schemeClr val="tx1"/>
                </a:solidFill>
                <a:effectLst>
                  <a:outerShdw blurRad="38100" dist="19050" dir="2700000" algn="tl" rotWithShape="0">
                    <a:schemeClr val="dk1">
                      <a:alpha val="40000"/>
                    </a:schemeClr>
                  </a:outerShdw>
                </a:effectLst>
              </a:rPr>
              <a:t>addable</a:t>
            </a:r>
          </a:p>
        </p:txBody>
      </p:sp>
      <p:sp>
        <p:nvSpPr>
          <p:cNvPr id="124" name="Diamond 123">
            <a:extLst>
              <a:ext uri="{FF2B5EF4-FFF2-40B4-BE49-F238E27FC236}">
                <a16:creationId xmlns:a16="http://schemas.microsoft.com/office/drawing/2014/main" id="{913122C7-5F36-4930-A8B5-183F43A792F7}"/>
              </a:ext>
            </a:extLst>
          </p:cNvPr>
          <p:cNvSpPr/>
          <p:nvPr/>
        </p:nvSpPr>
        <p:spPr>
          <a:xfrm>
            <a:off x="8428035" y="9690292"/>
            <a:ext cx="2540000" cy="124287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Fixed/</a:t>
            </a:r>
          </a:p>
          <a:p>
            <a:pPr algn="ctr"/>
            <a:r>
              <a:rPr lang="en-US" dirty="0"/>
              <a:t>addable?</a:t>
            </a:r>
          </a:p>
        </p:txBody>
      </p:sp>
      <p:cxnSp>
        <p:nvCxnSpPr>
          <p:cNvPr id="125" name="Connector: Elbow 124">
            <a:extLst>
              <a:ext uri="{FF2B5EF4-FFF2-40B4-BE49-F238E27FC236}">
                <a16:creationId xmlns:a16="http://schemas.microsoft.com/office/drawing/2014/main" id="{0F2B1D25-8E56-45DC-9F76-594DBA09E757}"/>
              </a:ext>
            </a:extLst>
          </p:cNvPr>
          <p:cNvCxnSpPr>
            <a:cxnSpLocks/>
          </p:cNvCxnSpPr>
          <p:nvPr/>
        </p:nvCxnSpPr>
        <p:spPr>
          <a:xfrm>
            <a:off x="10968035" y="10311728"/>
            <a:ext cx="158745" cy="83876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26" name="Connector: Elbow 125">
            <a:extLst>
              <a:ext uri="{FF2B5EF4-FFF2-40B4-BE49-F238E27FC236}">
                <a16:creationId xmlns:a16="http://schemas.microsoft.com/office/drawing/2014/main" id="{E5D1A303-554B-4E22-A9F5-3145FE1EE397}"/>
              </a:ext>
            </a:extLst>
          </p:cNvPr>
          <p:cNvCxnSpPr>
            <a:stCxn id="124" idx="1"/>
            <a:endCxn id="118" idx="0"/>
          </p:cNvCxnSpPr>
          <p:nvPr/>
        </p:nvCxnSpPr>
        <p:spPr>
          <a:xfrm rot="10800000" flipV="1">
            <a:off x="8153245" y="10311728"/>
            <a:ext cx="274791" cy="83876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27" name="Straight Arrow Connector 126">
            <a:extLst>
              <a:ext uri="{FF2B5EF4-FFF2-40B4-BE49-F238E27FC236}">
                <a16:creationId xmlns:a16="http://schemas.microsoft.com/office/drawing/2014/main" id="{E656F09B-2F4F-48A3-94FF-038C93B6FBEF}"/>
              </a:ext>
            </a:extLst>
          </p:cNvPr>
          <p:cNvCxnSpPr>
            <a:cxnSpLocks/>
            <a:stCxn id="115" idx="2"/>
            <a:endCxn id="124" idx="0"/>
          </p:cNvCxnSpPr>
          <p:nvPr/>
        </p:nvCxnSpPr>
        <p:spPr>
          <a:xfrm flipH="1">
            <a:off x="9698035" y="9058786"/>
            <a:ext cx="4" cy="6315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9" name="Rectangle 128">
            <a:extLst>
              <a:ext uri="{FF2B5EF4-FFF2-40B4-BE49-F238E27FC236}">
                <a16:creationId xmlns:a16="http://schemas.microsoft.com/office/drawing/2014/main" id="{35FB9ADE-3B61-48A3-A0D9-AEBA0D5E337C}"/>
              </a:ext>
            </a:extLst>
          </p:cNvPr>
          <p:cNvSpPr/>
          <p:nvPr/>
        </p:nvSpPr>
        <p:spPr>
          <a:xfrm>
            <a:off x="1" y="12357160"/>
            <a:ext cx="704850" cy="1358839"/>
          </a:xfrm>
          <a:prstGeom prst="rect">
            <a:avLst/>
          </a:prstGeom>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dirty="0"/>
              <a:t>+add info</a:t>
            </a:r>
          </a:p>
        </p:txBody>
      </p:sp>
      <p:sp>
        <p:nvSpPr>
          <p:cNvPr id="130" name="Rectangle 129">
            <a:extLst>
              <a:ext uri="{FF2B5EF4-FFF2-40B4-BE49-F238E27FC236}">
                <a16:creationId xmlns:a16="http://schemas.microsoft.com/office/drawing/2014/main" id="{DA6725C0-0D8A-4D2D-9574-A9DC2331C9B5}"/>
              </a:ext>
            </a:extLst>
          </p:cNvPr>
          <p:cNvSpPr/>
          <p:nvPr/>
        </p:nvSpPr>
        <p:spPr>
          <a:xfrm>
            <a:off x="704851" y="12357161"/>
            <a:ext cx="12096748" cy="1358839"/>
          </a:xfrm>
          <a:prstGeom prst="rect">
            <a:avLst/>
          </a:prstGeom>
          <a:solidFill>
            <a:schemeClr val="accent6">
              <a:lumMod val="20000"/>
              <a:lumOff val="80000"/>
            </a:schemeClr>
          </a:solidFill>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endParaRPr lang="en-US" dirty="0"/>
          </a:p>
        </p:txBody>
      </p:sp>
      <p:sp>
        <p:nvSpPr>
          <p:cNvPr id="132" name="Rectangle 131">
            <a:extLst>
              <a:ext uri="{FF2B5EF4-FFF2-40B4-BE49-F238E27FC236}">
                <a16:creationId xmlns:a16="http://schemas.microsoft.com/office/drawing/2014/main" id="{F1E9C558-4EA1-43FB-9EAB-1056E220C2C5}"/>
              </a:ext>
            </a:extLst>
          </p:cNvPr>
          <p:cNvSpPr/>
          <p:nvPr/>
        </p:nvSpPr>
        <p:spPr>
          <a:xfrm>
            <a:off x="1165072" y="12579529"/>
            <a:ext cx="2390775" cy="956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fixed, this option in not available</a:t>
            </a:r>
          </a:p>
        </p:txBody>
      </p:sp>
      <p:cxnSp>
        <p:nvCxnSpPr>
          <p:cNvPr id="133" name="Straight Arrow Connector 132">
            <a:extLst>
              <a:ext uri="{FF2B5EF4-FFF2-40B4-BE49-F238E27FC236}">
                <a16:creationId xmlns:a16="http://schemas.microsoft.com/office/drawing/2014/main" id="{AFB7174B-CA0D-4DC0-B116-CEC159A69764}"/>
              </a:ext>
            </a:extLst>
          </p:cNvPr>
          <p:cNvCxnSpPr>
            <a:cxnSpLocks/>
            <a:stCxn id="66" idx="2"/>
          </p:cNvCxnSpPr>
          <p:nvPr/>
        </p:nvCxnSpPr>
        <p:spPr>
          <a:xfrm>
            <a:off x="2360460" y="12112516"/>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7" name="Rectangle 136">
            <a:extLst>
              <a:ext uri="{FF2B5EF4-FFF2-40B4-BE49-F238E27FC236}">
                <a16:creationId xmlns:a16="http://schemas.microsoft.com/office/drawing/2014/main" id="{D2B32909-24C1-4B22-A1D5-01521213C76B}"/>
              </a:ext>
            </a:extLst>
          </p:cNvPr>
          <p:cNvSpPr/>
          <p:nvPr/>
        </p:nvSpPr>
        <p:spPr>
          <a:xfrm>
            <a:off x="6957856" y="12579528"/>
            <a:ext cx="2390775" cy="956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fixed, this option in not available</a:t>
            </a:r>
          </a:p>
        </p:txBody>
      </p:sp>
      <p:cxnSp>
        <p:nvCxnSpPr>
          <p:cNvPr id="138" name="Straight Arrow Connector 137">
            <a:extLst>
              <a:ext uri="{FF2B5EF4-FFF2-40B4-BE49-F238E27FC236}">
                <a16:creationId xmlns:a16="http://schemas.microsoft.com/office/drawing/2014/main" id="{9179937F-9EB9-4D26-A8CC-F8423B5EBC6C}"/>
              </a:ext>
            </a:extLst>
          </p:cNvPr>
          <p:cNvCxnSpPr>
            <a:cxnSpLocks/>
          </p:cNvCxnSpPr>
          <p:nvPr/>
        </p:nvCxnSpPr>
        <p:spPr>
          <a:xfrm>
            <a:off x="8153244" y="12112516"/>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0" name="Rectangle 59">
            <a:extLst>
              <a:ext uri="{FF2B5EF4-FFF2-40B4-BE49-F238E27FC236}">
                <a16:creationId xmlns:a16="http://schemas.microsoft.com/office/drawing/2014/main" id="{28C2C02E-BC2A-4B18-808D-61A0016D186F}"/>
              </a:ext>
            </a:extLst>
          </p:cNvPr>
          <p:cNvSpPr/>
          <p:nvPr/>
        </p:nvSpPr>
        <p:spPr>
          <a:xfrm>
            <a:off x="4124325" y="12579529"/>
            <a:ext cx="2390775" cy="956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addable, this option will create new row</a:t>
            </a:r>
          </a:p>
        </p:txBody>
      </p:sp>
      <p:cxnSp>
        <p:nvCxnSpPr>
          <p:cNvPr id="61" name="Straight Arrow Connector 60">
            <a:extLst>
              <a:ext uri="{FF2B5EF4-FFF2-40B4-BE49-F238E27FC236}">
                <a16:creationId xmlns:a16="http://schemas.microsoft.com/office/drawing/2014/main" id="{1E1E051E-2A91-4AD3-A78C-0D561975012E}"/>
              </a:ext>
            </a:extLst>
          </p:cNvPr>
          <p:cNvCxnSpPr>
            <a:cxnSpLocks/>
          </p:cNvCxnSpPr>
          <p:nvPr/>
        </p:nvCxnSpPr>
        <p:spPr>
          <a:xfrm>
            <a:off x="5319713" y="12112516"/>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2" name="Rectangle 61">
            <a:extLst>
              <a:ext uri="{FF2B5EF4-FFF2-40B4-BE49-F238E27FC236}">
                <a16:creationId xmlns:a16="http://schemas.microsoft.com/office/drawing/2014/main" id="{FD4B856B-313F-4F88-9D81-D8A4877D95DB}"/>
              </a:ext>
            </a:extLst>
          </p:cNvPr>
          <p:cNvSpPr/>
          <p:nvPr/>
        </p:nvSpPr>
        <p:spPr>
          <a:xfrm>
            <a:off x="9931392" y="12579529"/>
            <a:ext cx="2390775" cy="9569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addable, this option will create new row</a:t>
            </a:r>
          </a:p>
        </p:txBody>
      </p:sp>
      <p:cxnSp>
        <p:nvCxnSpPr>
          <p:cNvPr id="65" name="Straight Arrow Connector 64">
            <a:extLst>
              <a:ext uri="{FF2B5EF4-FFF2-40B4-BE49-F238E27FC236}">
                <a16:creationId xmlns:a16="http://schemas.microsoft.com/office/drawing/2014/main" id="{7EEB772B-5D6A-4940-A9AD-205310DAF738}"/>
              </a:ext>
            </a:extLst>
          </p:cNvPr>
          <p:cNvCxnSpPr>
            <a:cxnSpLocks/>
          </p:cNvCxnSpPr>
          <p:nvPr/>
        </p:nvCxnSpPr>
        <p:spPr>
          <a:xfrm>
            <a:off x="11126780" y="12112516"/>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0" name="Rectangle 69">
            <a:extLst>
              <a:ext uri="{FF2B5EF4-FFF2-40B4-BE49-F238E27FC236}">
                <a16:creationId xmlns:a16="http://schemas.microsoft.com/office/drawing/2014/main" id="{01AC993A-27ED-477D-971B-06034993442E}"/>
              </a:ext>
            </a:extLst>
          </p:cNvPr>
          <p:cNvSpPr/>
          <p:nvPr/>
        </p:nvSpPr>
        <p:spPr>
          <a:xfrm>
            <a:off x="1165072" y="13964340"/>
            <a:ext cx="2390775" cy="19742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fixed, this option is open but user cannot change the common fields entry here</a:t>
            </a:r>
          </a:p>
        </p:txBody>
      </p:sp>
      <p:cxnSp>
        <p:nvCxnSpPr>
          <p:cNvPr id="71" name="Straight Arrow Connector 70">
            <a:extLst>
              <a:ext uri="{FF2B5EF4-FFF2-40B4-BE49-F238E27FC236}">
                <a16:creationId xmlns:a16="http://schemas.microsoft.com/office/drawing/2014/main" id="{1F89992E-C6BD-42CF-A279-EEC7A28B9E70}"/>
              </a:ext>
            </a:extLst>
          </p:cNvPr>
          <p:cNvCxnSpPr>
            <a:cxnSpLocks/>
            <a:endCxn id="70" idx="0"/>
          </p:cNvCxnSpPr>
          <p:nvPr/>
        </p:nvCxnSpPr>
        <p:spPr>
          <a:xfrm>
            <a:off x="2360460" y="13497328"/>
            <a:ext cx="0" cy="4670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2" name="Rectangle 71">
            <a:extLst>
              <a:ext uri="{FF2B5EF4-FFF2-40B4-BE49-F238E27FC236}">
                <a16:creationId xmlns:a16="http://schemas.microsoft.com/office/drawing/2014/main" id="{2C0CEFF9-80E3-4AD9-88FF-5CAE222B47BA}"/>
              </a:ext>
            </a:extLst>
          </p:cNvPr>
          <p:cNvSpPr/>
          <p:nvPr/>
        </p:nvSpPr>
        <p:spPr>
          <a:xfrm>
            <a:off x="6957856" y="13964340"/>
            <a:ext cx="2390775" cy="19742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fixed, this option is open but user cannot change the common fields entry here</a:t>
            </a:r>
          </a:p>
        </p:txBody>
      </p:sp>
      <p:cxnSp>
        <p:nvCxnSpPr>
          <p:cNvPr id="73" name="Straight Arrow Connector 72">
            <a:extLst>
              <a:ext uri="{FF2B5EF4-FFF2-40B4-BE49-F238E27FC236}">
                <a16:creationId xmlns:a16="http://schemas.microsoft.com/office/drawing/2014/main" id="{834CDFCF-021B-4496-9A69-81DAD3FF7107}"/>
              </a:ext>
            </a:extLst>
          </p:cNvPr>
          <p:cNvCxnSpPr>
            <a:cxnSpLocks/>
            <a:endCxn id="72" idx="0"/>
          </p:cNvCxnSpPr>
          <p:nvPr/>
        </p:nvCxnSpPr>
        <p:spPr>
          <a:xfrm>
            <a:off x="8153244" y="13497328"/>
            <a:ext cx="0" cy="4670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6" name="Rectangle 75">
            <a:extLst>
              <a:ext uri="{FF2B5EF4-FFF2-40B4-BE49-F238E27FC236}">
                <a16:creationId xmlns:a16="http://schemas.microsoft.com/office/drawing/2014/main" id="{465B72FE-AE29-477D-8917-C3FAB329BAA1}"/>
              </a:ext>
            </a:extLst>
          </p:cNvPr>
          <p:cNvSpPr/>
          <p:nvPr/>
        </p:nvSpPr>
        <p:spPr>
          <a:xfrm>
            <a:off x="4138608" y="13964340"/>
            <a:ext cx="2390775" cy="19742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addable, this option is open but user cannot change the common fields entry here. But user can change all the fields of his new entry</a:t>
            </a:r>
          </a:p>
        </p:txBody>
      </p:sp>
      <p:cxnSp>
        <p:nvCxnSpPr>
          <p:cNvPr id="77" name="Straight Arrow Connector 76">
            <a:extLst>
              <a:ext uri="{FF2B5EF4-FFF2-40B4-BE49-F238E27FC236}">
                <a16:creationId xmlns:a16="http://schemas.microsoft.com/office/drawing/2014/main" id="{2B165286-5630-4177-921F-A589D295446E}"/>
              </a:ext>
            </a:extLst>
          </p:cNvPr>
          <p:cNvCxnSpPr>
            <a:cxnSpLocks/>
            <a:endCxn id="76" idx="0"/>
          </p:cNvCxnSpPr>
          <p:nvPr/>
        </p:nvCxnSpPr>
        <p:spPr>
          <a:xfrm>
            <a:off x="5333996" y="13497328"/>
            <a:ext cx="0" cy="4670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8" name="Rectangle 77">
            <a:extLst>
              <a:ext uri="{FF2B5EF4-FFF2-40B4-BE49-F238E27FC236}">
                <a16:creationId xmlns:a16="http://schemas.microsoft.com/office/drawing/2014/main" id="{FAD314EE-D6ED-4FC2-A588-57F56E8537C0}"/>
              </a:ext>
            </a:extLst>
          </p:cNvPr>
          <p:cNvSpPr/>
          <p:nvPr/>
        </p:nvSpPr>
        <p:spPr>
          <a:xfrm>
            <a:off x="9931392" y="13964340"/>
            <a:ext cx="2390775" cy="19742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addable, this option is open but user cannot change the common fields entry here. But user can change all the fields of his new entry</a:t>
            </a:r>
          </a:p>
        </p:txBody>
      </p:sp>
      <p:cxnSp>
        <p:nvCxnSpPr>
          <p:cNvPr id="81" name="Straight Arrow Connector 80">
            <a:extLst>
              <a:ext uri="{FF2B5EF4-FFF2-40B4-BE49-F238E27FC236}">
                <a16:creationId xmlns:a16="http://schemas.microsoft.com/office/drawing/2014/main" id="{439781B7-F02C-4CD5-9160-94FC21F268CA}"/>
              </a:ext>
            </a:extLst>
          </p:cNvPr>
          <p:cNvCxnSpPr>
            <a:cxnSpLocks/>
            <a:endCxn id="78" idx="0"/>
          </p:cNvCxnSpPr>
          <p:nvPr/>
        </p:nvCxnSpPr>
        <p:spPr>
          <a:xfrm>
            <a:off x="11126780" y="13497328"/>
            <a:ext cx="0" cy="4670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5" name="Rectangle 84">
            <a:extLst>
              <a:ext uri="{FF2B5EF4-FFF2-40B4-BE49-F238E27FC236}">
                <a16:creationId xmlns:a16="http://schemas.microsoft.com/office/drawing/2014/main" id="{D07F2DDB-1C47-4620-9861-20FD8E2798F4}"/>
              </a:ext>
            </a:extLst>
          </p:cNvPr>
          <p:cNvSpPr/>
          <p:nvPr/>
        </p:nvSpPr>
        <p:spPr>
          <a:xfrm>
            <a:off x="1165072" y="16378235"/>
            <a:ext cx="2390775" cy="66341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By default system generated excel template will be here. The fixed filed will be filled with row entry and those cells will be locked for editing. However if user add other entries in other cells excel will also have those entry in the corresponding cell at the time of downloading the file. But those cell will not be locked and user can edit those cells. User cannot create new rows. He can only edit the cells of existing rows but the cells with common field are not editable..</a:t>
            </a:r>
          </a:p>
        </p:txBody>
      </p:sp>
      <p:cxnSp>
        <p:nvCxnSpPr>
          <p:cNvPr id="86" name="Straight Arrow Connector 85">
            <a:extLst>
              <a:ext uri="{FF2B5EF4-FFF2-40B4-BE49-F238E27FC236}">
                <a16:creationId xmlns:a16="http://schemas.microsoft.com/office/drawing/2014/main" id="{348C29FE-4BCE-4B80-96DC-BC85EE214DB7}"/>
              </a:ext>
            </a:extLst>
          </p:cNvPr>
          <p:cNvCxnSpPr>
            <a:cxnSpLocks/>
          </p:cNvCxnSpPr>
          <p:nvPr/>
        </p:nvCxnSpPr>
        <p:spPr>
          <a:xfrm>
            <a:off x="2360460" y="15911224"/>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8" name="Rectangle 87">
            <a:extLst>
              <a:ext uri="{FF2B5EF4-FFF2-40B4-BE49-F238E27FC236}">
                <a16:creationId xmlns:a16="http://schemas.microsoft.com/office/drawing/2014/main" id="{894587CC-09CF-4612-A8B5-7E6F7B84302B}"/>
              </a:ext>
            </a:extLst>
          </p:cNvPr>
          <p:cNvSpPr/>
          <p:nvPr/>
        </p:nvSpPr>
        <p:spPr>
          <a:xfrm>
            <a:off x="6957856" y="16378236"/>
            <a:ext cx="2390775" cy="6634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By default system generated excel template will be here. The fixed filed will be filled with row entry and those cells will be locked for editing. However if user add other entries in other cells excel will also have those entry in the corresponding cell at the time of downloading the file. But those cell will not be locked and user can edit those cells. User cannot create new rows. He can only edit the cells of existing rows but the cells with common field are not editable..</a:t>
            </a:r>
          </a:p>
        </p:txBody>
      </p:sp>
      <p:cxnSp>
        <p:nvCxnSpPr>
          <p:cNvPr id="89" name="Straight Arrow Connector 88">
            <a:extLst>
              <a:ext uri="{FF2B5EF4-FFF2-40B4-BE49-F238E27FC236}">
                <a16:creationId xmlns:a16="http://schemas.microsoft.com/office/drawing/2014/main" id="{9A1CC278-3D54-4CB7-BF27-CBE5A2A36BD0}"/>
              </a:ext>
            </a:extLst>
          </p:cNvPr>
          <p:cNvCxnSpPr>
            <a:cxnSpLocks/>
          </p:cNvCxnSpPr>
          <p:nvPr/>
        </p:nvCxnSpPr>
        <p:spPr>
          <a:xfrm>
            <a:off x="8153244" y="15911224"/>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0" name="Rectangle 89">
            <a:extLst>
              <a:ext uri="{FF2B5EF4-FFF2-40B4-BE49-F238E27FC236}">
                <a16:creationId xmlns:a16="http://schemas.microsoft.com/office/drawing/2014/main" id="{499DB042-E160-4FD3-A374-31516AC1D3AC}"/>
              </a:ext>
            </a:extLst>
          </p:cNvPr>
          <p:cNvSpPr/>
          <p:nvPr/>
        </p:nvSpPr>
        <p:spPr>
          <a:xfrm>
            <a:off x="4124325" y="16378236"/>
            <a:ext cx="2390775" cy="6634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By default system generated excel template will be here. The fixed filed will be filled with row entry and those cells will be locked for editing. However if user add other entries in other cells excel will also have those entry in the corresponding cell at the time of downloading the file. But those cell will not be locked and user can edit those cells. User can create new rows and can enter new row entry. the cells with common field are not editable..</a:t>
            </a:r>
          </a:p>
        </p:txBody>
      </p:sp>
      <p:cxnSp>
        <p:nvCxnSpPr>
          <p:cNvPr id="91" name="Straight Arrow Connector 90">
            <a:extLst>
              <a:ext uri="{FF2B5EF4-FFF2-40B4-BE49-F238E27FC236}">
                <a16:creationId xmlns:a16="http://schemas.microsoft.com/office/drawing/2014/main" id="{AA48CA4B-952F-410B-AECB-B161E0D0C5F0}"/>
              </a:ext>
            </a:extLst>
          </p:cNvPr>
          <p:cNvCxnSpPr>
            <a:cxnSpLocks/>
          </p:cNvCxnSpPr>
          <p:nvPr/>
        </p:nvCxnSpPr>
        <p:spPr>
          <a:xfrm>
            <a:off x="5319713" y="15911224"/>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3" name="Rectangle 92">
            <a:extLst>
              <a:ext uri="{FF2B5EF4-FFF2-40B4-BE49-F238E27FC236}">
                <a16:creationId xmlns:a16="http://schemas.microsoft.com/office/drawing/2014/main" id="{6EDA2926-2FA5-4F85-A3CB-6A184DBC5B78}"/>
              </a:ext>
            </a:extLst>
          </p:cNvPr>
          <p:cNvSpPr/>
          <p:nvPr/>
        </p:nvSpPr>
        <p:spPr>
          <a:xfrm>
            <a:off x="9931392" y="16378236"/>
            <a:ext cx="2390775" cy="6634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By default system generated excel template will be here. The fixed filed will be filled with row entry and those cells will be locked for editing. However if user add other entries in other cells excel will also have those entry in the corresponding cell at the time of downloading the file. But those cell will not be locked and user can edit those cells. User can create new rows and can enter new row entry. the cells with common field are not editable..</a:t>
            </a:r>
          </a:p>
        </p:txBody>
      </p:sp>
      <p:cxnSp>
        <p:nvCxnSpPr>
          <p:cNvPr id="95" name="Straight Arrow Connector 94">
            <a:extLst>
              <a:ext uri="{FF2B5EF4-FFF2-40B4-BE49-F238E27FC236}">
                <a16:creationId xmlns:a16="http://schemas.microsoft.com/office/drawing/2014/main" id="{F701C97A-2B4F-4C53-A37F-EAFE80B89E89}"/>
              </a:ext>
            </a:extLst>
          </p:cNvPr>
          <p:cNvCxnSpPr>
            <a:cxnSpLocks/>
          </p:cNvCxnSpPr>
          <p:nvPr/>
        </p:nvCxnSpPr>
        <p:spPr>
          <a:xfrm>
            <a:off x="11126780" y="15911224"/>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9" name="Rectangle 98">
            <a:extLst>
              <a:ext uri="{FF2B5EF4-FFF2-40B4-BE49-F238E27FC236}">
                <a16:creationId xmlns:a16="http://schemas.microsoft.com/office/drawing/2014/main" id="{B0FBD263-26CC-48E5-8C76-F3213EC120B6}"/>
              </a:ext>
            </a:extLst>
          </p:cNvPr>
          <p:cNvSpPr/>
          <p:nvPr/>
        </p:nvSpPr>
        <p:spPr>
          <a:xfrm>
            <a:off x="1165072" y="23451205"/>
            <a:ext cx="2390775" cy="181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Bulk import will check the fixed value and check accuracy of other values. Then rewrites the corresponding roes in DB and UI</a:t>
            </a:r>
          </a:p>
        </p:txBody>
      </p:sp>
      <p:cxnSp>
        <p:nvCxnSpPr>
          <p:cNvPr id="101" name="Straight Arrow Connector 100">
            <a:extLst>
              <a:ext uri="{FF2B5EF4-FFF2-40B4-BE49-F238E27FC236}">
                <a16:creationId xmlns:a16="http://schemas.microsoft.com/office/drawing/2014/main" id="{0E85AD3B-2CE5-4A32-A68B-9E93CE0F3E20}"/>
              </a:ext>
            </a:extLst>
          </p:cNvPr>
          <p:cNvCxnSpPr>
            <a:cxnSpLocks/>
          </p:cNvCxnSpPr>
          <p:nvPr/>
        </p:nvCxnSpPr>
        <p:spPr>
          <a:xfrm>
            <a:off x="2360460" y="22984193"/>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4" name="Rectangle 103">
            <a:extLst>
              <a:ext uri="{FF2B5EF4-FFF2-40B4-BE49-F238E27FC236}">
                <a16:creationId xmlns:a16="http://schemas.microsoft.com/office/drawing/2014/main" id="{8E1F8591-E976-485A-AE90-80724218D26E}"/>
              </a:ext>
            </a:extLst>
          </p:cNvPr>
          <p:cNvSpPr/>
          <p:nvPr/>
        </p:nvSpPr>
        <p:spPr>
          <a:xfrm>
            <a:off x="6957856" y="23451205"/>
            <a:ext cx="2390775" cy="181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Bulk import will check the fixed value and check accuracy of other values. Then rewrites the corresponding roes in DB and UI</a:t>
            </a:r>
          </a:p>
        </p:txBody>
      </p:sp>
      <p:cxnSp>
        <p:nvCxnSpPr>
          <p:cNvPr id="105" name="Straight Arrow Connector 104">
            <a:extLst>
              <a:ext uri="{FF2B5EF4-FFF2-40B4-BE49-F238E27FC236}">
                <a16:creationId xmlns:a16="http://schemas.microsoft.com/office/drawing/2014/main" id="{475770D9-DCE2-472F-BBD8-382A090E6401}"/>
              </a:ext>
            </a:extLst>
          </p:cNvPr>
          <p:cNvCxnSpPr>
            <a:cxnSpLocks/>
          </p:cNvCxnSpPr>
          <p:nvPr/>
        </p:nvCxnSpPr>
        <p:spPr>
          <a:xfrm>
            <a:off x="8153244" y="22984193"/>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6" name="Rectangle 105">
            <a:extLst>
              <a:ext uri="{FF2B5EF4-FFF2-40B4-BE49-F238E27FC236}">
                <a16:creationId xmlns:a16="http://schemas.microsoft.com/office/drawing/2014/main" id="{C6C170C7-7BE2-4D51-BB40-6AB84DDBD44B}"/>
              </a:ext>
            </a:extLst>
          </p:cNvPr>
          <p:cNvSpPr/>
          <p:nvPr/>
        </p:nvSpPr>
        <p:spPr>
          <a:xfrm>
            <a:off x="4124325" y="23451206"/>
            <a:ext cx="2390775" cy="18181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will check the fixed rows and rewrites them. Append new entries</a:t>
            </a:r>
          </a:p>
        </p:txBody>
      </p:sp>
      <p:cxnSp>
        <p:nvCxnSpPr>
          <p:cNvPr id="107" name="Straight Arrow Connector 106">
            <a:extLst>
              <a:ext uri="{FF2B5EF4-FFF2-40B4-BE49-F238E27FC236}">
                <a16:creationId xmlns:a16="http://schemas.microsoft.com/office/drawing/2014/main" id="{7CE9F941-A391-4600-96E6-266C58F9FEF9}"/>
              </a:ext>
            </a:extLst>
          </p:cNvPr>
          <p:cNvCxnSpPr>
            <a:cxnSpLocks/>
          </p:cNvCxnSpPr>
          <p:nvPr/>
        </p:nvCxnSpPr>
        <p:spPr>
          <a:xfrm>
            <a:off x="5319713" y="22984193"/>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Rectangle 107">
            <a:extLst>
              <a:ext uri="{FF2B5EF4-FFF2-40B4-BE49-F238E27FC236}">
                <a16:creationId xmlns:a16="http://schemas.microsoft.com/office/drawing/2014/main" id="{DA3973FC-91A4-4343-A2DA-39BF767800BE}"/>
              </a:ext>
            </a:extLst>
          </p:cNvPr>
          <p:cNvSpPr/>
          <p:nvPr/>
        </p:nvSpPr>
        <p:spPr>
          <a:xfrm>
            <a:off x="9931392" y="23451206"/>
            <a:ext cx="2390775" cy="18181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will check the fixed rows and rewrites them. Append new entries</a:t>
            </a:r>
          </a:p>
        </p:txBody>
      </p:sp>
      <p:cxnSp>
        <p:nvCxnSpPr>
          <p:cNvPr id="109" name="Straight Arrow Connector 108">
            <a:extLst>
              <a:ext uri="{FF2B5EF4-FFF2-40B4-BE49-F238E27FC236}">
                <a16:creationId xmlns:a16="http://schemas.microsoft.com/office/drawing/2014/main" id="{043766B9-473B-41D6-8360-4D67F5BA6DB7}"/>
              </a:ext>
            </a:extLst>
          </p:cNvPr>
          <p:cNvCxnSpPr>
            <a:cxnSpLocks/>
          </p:cNvCxnSpPr>
          <p:nvPr/>
        </p:nvCxnSpPr>
        <p:spPr>
          <a:xfrm>
            <a:off x="11126780" y="22984193"/>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4" name="Rectangle 113">
            <a:extLst>
              <a:ext uri="{FF2B5EF4-FFF2-40B4-BE49-F238E27FC236}">
                <a16:creationId xmlns:a16="http://schemas.microsoft.com/office/drawing/2014/main" id="{560CC071-06FC-42AE-A90C-BB166299EF6D}"/>
              </a:ext>
            </a:extLst>
          </p:cNvPr>
          <p:cNvSpPr/>
          <p:nvPr/>
        </p:nvSpPr>
        <p:spPr>
          <a:xfrm>
            <a:off x="1165072" y="25666450"/>
            <a:ext cx="2390775" cy="1539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 Rows can be deleted by user</a:t>
            </a:r>
          </a:p>
        </p:txBody>
      </p:sp>
      <p:cxnSp>
        <p:nvCxnSpPr>
          <p:cNvPr id="117" name="Straight Arrow Connector 116">
            <a:extLst>
              <a:ext uri="{FF2B5EF4-FFF2-40B4-BE49-F238E27FC236}">
                <a16:creationId xmlns:a16="http://schemas.microsoft.com/office/drawing/2014/main" id="{104D5648-CF01-4656-8BB9-A655C46E32F5}"/>
              </a:ext>
            </a:extLst>
          </p:cNvPr>
          <p:cNvCxnSpPr>
            <a:cxnSpLocks/>
          </p:cNvCxnSpPr>
          <p:nvPr/>
        </p:nvCxnSpPr>
        <p:spPr>
          <a:xfrm>
            <a:off x="2360460" y="25199437"/>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8" name="Rectangle 127">
            <a:extLst>
              <a:ext uri="{FF2B5EF4-FFF2-40B4-BE49-F238E27FC236}">
                <a16:creationId xmlns:a16="http://schemas.microsoft.com/office/drawing/2014/main" id="{DDDB9F33-C1AC-45A7-AA7A-4136EBBA6783}"/>
              </a:ext>
            </a:extLst>
          </p:cNvPr>
          <p:cNvSpPr/>
          <p:nvPr/>
        </p:nvSpPr>
        <p:spPr>
          <a:xfrm>
            <a:off x="6957856" y="25666450"/>
            <a:ext cx="2390775" cy="1539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 Rows can be deleted by user</a:t>
            </a:r>
          </a:p>
        </p:txBody>
      </p:sp>
      <p:cxnSp>
        <p:nvCxnSpPr>
          <p:cNvPr id="131" name="Straight Arrow Connector 130">
            <a:extLst>
              <a:ext uri="{FF2B5EF4-FFF2-40B4-BE49-F238E27FC236}">
                <a16:creationId xmlns:a16="http://schemas.microsoft.com/office/drawing/2014/main" id="{07863800-AD64-4360-AB5B-A5788BA796EA}"/>
              </a:ext>
            </a:extLst>
          </p:cNvPr>
          <p:cNvCxnSpPr>
            <a:cxnSpLocks/>
          </p:cNvCxnSpPr>
          <p:nvPr/>
        </p:nvCxnSpPr>
        <p:spPr>
          <a:xfrm>
            <a:off x="8153244" y="25199437"/>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4" name="Rectangle 133">
            <a:extLst>
              <a:ext uri="{FF2B5EF4-FFF2-40B4-BE49-F238E27FC236}">
                <a16:creationId xmlns:a16="http://schemas.microsoft.com/office/drawing/2014/main" id="{9B195336-AE8C-46FA-A232-6DFD8AB2C64B}"/>
              </a:ext>
            </a:extLst>
          </p:cNvPr>
          <p:cNvSpPr/>
          <p:nvPr/>
        </p:nvSpPr>
        <p:spPr>
          <a:xfrm>
            <a:off x="4124325" y="25666450"/>
            <a:ext cx="2390775" cy="1539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can only delete his entered new rows. The fixed rows are not </a:t>
            </a:r>
            <a:r>
              <a:rPr lang="en-US" dirty="0" err="1"/>
              <a:t>deletable</a:t>
            </a:r>
            <a:endParaRPr lang="en-US" dirty="0"/>
          </a:p>
        </p:txBody>
      </p:sp>
      <p:cxnSp>
        <p:nvCxnSpPr>
          <p:cNvPr id="135" name="Straight Arrow Connector 134">
            <a:extLst>
              <a:ext uri="{FF2B5EF4-FFF2-40B4-BE49-F238E27FC236}">
                <a16:creationId xmlns:a16="http://schemas.microsoft.com/office/drawing/2014/main" id="{18FD68A6-A9E3-4822-97F4-2A46A10B687E}"/>
              </a:ext>
            </a:extLst>
          </p:cNvPr>
          <p:cNvCxnSpPr>
            <a:cxnSpLocks/>
          </p:cNvCxnSpPr>
          <p:nvPr/>
        </p:nvCxnSpPr>
        <p:spPr>
          <a:xfrm>
            <a:off x="5319713" y="25199437"/>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6" name="Rectangle 135">
            <a:extLst>
              <a:ext uri="{FF2B5EF4-FFF2-40B4-BE49-F238E27FC236}">
                <a16:creationId xmlns:a16="http://schemas.microsoft.com/office/drawing/2014/main" id="{C43E4936-ED8E-4E31-B8BC-A1655BEA2CEC}"/>
              </a:ext>
            </a:extLst>
          </p:cNvPr>
          <p:cNvSpPr/>
          <p:nvPr/>
        </p:nvSpPr>
        <p:spPr>
          <a:xfrm>
            <a:off x="9931392" y="25666450"/>
            <a:ext cx="2390775" cy="1539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can only delete his entered new rows. The fixed rows are not </a:t>
            </a:r>
            <a:r>
              <a:rPr lang="en-US" dirty="0" err="1"/>
              <a:t>deletable</a:t>
            </a:r>
            <a:endParaRPr lang="en-US" dirty="0"/>
          </a:p>
        </p:txBody>
      </p:sp>
      <p:cxnSp>
        <p:nvCxnSpPr>
          <p:cNvPr id="139" name="Straight Arrow Connector 138">
            <a:extLst>
              <a:ext uri="{FF2B5EF4-FFF2-40B4-BE49-F238E27FC236}">
                <a16:creationId xmlns:a16="http://schemas.microsoft.com/office/drawing/2014/main" id="{DAB8B62D-D89B-4706-8E38-75E7302FA3EE}"/>
              </a:ext>
            </a:extLst>
          </p:cNvPr>
          <p:cNvCxnSpPr>
            <a:cxnSpLocks/>
          </p:cNvCxnSpPr>
          <p:nvPr/>
        </p:nvCxnSpPr>
        <p:spPr>
          <a:xfrm>
            <a:off x="11126780" y="25199437"/>
            <a:ext cx="0" cy="427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0" name="Rectangle 139">
            <a:extLst>
              <a:ext uri="{FF2B5EF4-FFF2-40B4-BE49-F238E27FC236}">
                <a16:creationId xmlns:a16="http://schemas.microsoft.com/office/drawing/2014/main" id="{BE1E479D-2FC7-48DA-A0D5-C4F060416D6C}"/>
              </a:ext>
            </a:extLst>
          </p:cNvPr>
          <p:cNvSpPr/>
          <p:nvPr/>
        </p:nvSpPr>
        <p:spPr>
          <a:xfrm>
            <a:off x="10743886" y="3685045"/>
            <a:ext cx="1759899"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ln w="0"/>
                <a:solidFill>
                  <a:schemeClr val="tx1"/>
                </a:solidFill>
                <a:effectLst>
                  <a:outerShdw blurRad="38100" dist="19050" dir="2700000" algn="tl" rotWithShape="0">
                    <a:schemeClr val="dk1">
                      <a:alpha val="40000"/>
                    </a:schemeClr>
                  </a:outerShdw>
                </a:effectLst>
              </a:rPr>
              <a:t>superadmin</a:t>
            </a:r>
            <a:r>
              <a:rPr lang="en-US" dirty="0">
                <a:ln w="0"/>
                <a:solidFill>
                  <a:schemeClr val="tx1"/>
                </a:solidFill>
                <a:effectLst>
                  <a:outerShdw blurRad="38100" dist="19050" dir="2700000" algn="tl" rotWithShape="0">
                    <a:schemeClr val="dk1">
                      <a:alpha val="40000"/>
                    </a:schemeClr>
                  </a:outerShdw>
                </a:effectLst>
              </a:rPr>
              <a:t> defined</a:t>
            </a:r>
          </a:p>
        </p:txBody>
      </p:sp>
    </p:spTree>
    <p:extLst>
      <p:ext uri="{BB962C8B-B14F-4D97-AF65-F5344CB8AC3E}">
        <p14:creationId xmlns:p14="http://schemas.microsoft.com/office/powerpoint/2010/main" val="22155394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862F4F3-969B-4279-A608-6C5CAE22B304}">
  <we:reference id="wa200010725" version="1.0.0.1" store="en-US" storeType="OMEX"/>
  <we:alternateReferences>
    <we:reference id="wa200010725" version="1.0.0.1" store="WA2000107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318</TotalTime>
  <Words>927</Words>
  <Application>Microsoft Office PowerPoint</Application>
  <PresentationFormat>Custom</PresentationFormat>
  <Paragraphs>54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oli ur rahaman</dc:creator>
  <cp:lastModifiedBy>Md. oli ur rahaman</cp:lastModifiedBy>
  <cp:revision>60</cp:revision>
  <dcterms:created xsi:type="dcterms:W3CDTF">2026-07-02T17:23:08Z</dcterms:created>
  <dcterms:modified xsi:type="dcterms:W3CDTF">2026-07-03T10:07:42Z</dcterms:modified>
</cp:coreProperties>
</file>